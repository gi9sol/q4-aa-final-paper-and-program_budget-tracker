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Helvetica World Bold" charset="1" panose="020B0800040000020004"/>
      <p:regular r:id="rId12"/>
    </p:embeddedFont>
    <p:embeddedFont>
      <p:font typeface="Helvetica World" charset="1" panose="020B0500040000020004"/>
      <p:regular r:id="rId13"/>
    </p:embeddedFont>
    <p:embeddedFont>
      <p:font typeface="Open Sauce Bold" charset="1" panose="00000800000000000000"/>
      <p:regular r:id="rId14"/>
    </p:embeddedFont>
    <p:embeddedFont>
      <p:font typeface="DM Sans" charset="1" panose="00000000000000000000"/>
      <p:regular r:id="rId15"/>
    </p:embeddedFont>
    <p:embeddedFont>
      <p:font typeface="Now Bold" charset="1" panose="00000800000000000000"/>
      <p:regular r:id="rId16"/>
    </p:embeddedFont>
    <p:embeddedFont>
      <p:font typeface="DM Sans 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293831" y="552104"/>
            <a:ext cx="11326854" cy="11326854"/>
          </a:xfrm>
          <a:custGeom>
            <a:avLst/>
            <a:gdLst/>
            <a:ahLst/>
            <a:cxnLst/>
            <a:rect r="r" b="b" t="t" l="l"/>
            <a:pathLst>
              <a:path h="11326854" w="11326854">
                <a:moveTo>
                  <a:pt x="0" y="0"/>
                </a:moveTo>
                <a:lnTo>
                  <a:pt x="11326854" y="0"/>
                </a:lnTo>
                <a:lnTo>
                  <a:pt x="11326854" y="11326854"/>
                </a:lnTo>
                <a:lnTo>
                  <a:pt x="0" y="11326854"/>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1028700" y="2828141"/>
            <a:ext cx="16230600" cy="1896499"/>
          </a:xfrm>
          <a:prstGeom prst="rect">
            <a:avLst/>
          </a:prstGeom>
        </p:spPr>
        <p:txBody>
          <a:bodyPr anchor="t" rtlCol="false" tIns="0" lIns="0" bIns="0" rIns="0">
            <a:spAutoFit/>
          </a:bodyPr>
          <a:lstStyle/>
          <a:p>
            <a:pPr algn="ctr" marL="0" indent="0" lvl="0">
              <a:lnSpc>
                <a:spcPts val="12451"/>
              </a:lnSpc>
            </a:pPr>
            <a:r>
              <a:rPr lang="en-US" b="true" sz="13835" spc="-830">
                <a:solidFill>
                  <a:srgbClr val="FFFFFF"/>
                </a:solidFill>
                <a:latin typeface="Helvetica World Bold"/>
                <a:ea typeface="Helvetica World Bold"/>
                <a:cs typeface="Helvetica World Bold"/>
                <a:sym typeface="Helvetica World Bold"/>
              </a:rPr>
              <a:t>BUDGET TRACKER</a:t>
            </a:r>
          </a:p>
        </p:txBody>
      </p:sp>
      <p:sp>
        <p:nvSpPr>
          <p:cNvPr name="TextBox 5" id="5"/>
          <p:cNvSpPr txBox="true"/>
          <p:nvPr/>
        </p:nvSpPr>
        <p:spPr>
          <a:xfrm rot="0">
            <a:off x="2799468" y="4654866"/>
            <a:ext cx="12689064" cy="1336025"/>
          </a:xfrm>
          <a:prstGeom prst="rect">
            <a:avLst/>
          </a:prstGeom>
        </p:spPr>
        <p:txBody>
          <a:bodyPr anchor="t" rtlCol="false" tIns="0" lIns="0" bIns="0" rIns="0">
            <a:spAutoFit/>
          </a:bodyPr>
          <a:lstStyle/>
          <a:p>
            <a:pPr algn="ctr" marL="0" indent="0" lvl="0">
              <a:lnSpc>
                <a:spcPts val="9734"/>
              </a:lnSpc>
            </a:pPr>
            <a:r>
              <a:rPr lang="en-US" sz="10816" spc="-648">
                <a:solidFill>
                  <a:srgbClr val="FFFFFF"/>
                </a:solidFill>
                <a:latin typeface="Helvetica World"/>
                <a:ea typeface="Helvetica World"/>
                <a:cs typeface="Helvetica World"/>
                <a:sym typeface="Helvetica World"/>
              </a:rPr>
              <a:t>Final Defense</a:t>
            </a:r>
          </a:p>
        </p:txBody>
      </p:sp>
      <p:sp>
        <p:nvSpPr>
          <p:cNvPr name="AutoShape 6" id="6"/>
          <p:cNvSpPr/>
          <p:nvPr/>
        </p:nvSpPr>
        <p:spPr>
          <a:xfrm>
            <a:off x="2799468" y="5563651"/>
            <a:ext cx="2851926" cy="0"/>
          </a:xfrm>
          <a:prstGeom prst="line">
            <a:avLst/>
          </a:prstGeom>
          <a:ln cap="rnd" w="76200">
            <a:solidFill>
              <a:srgbClr val="FFFFFF"/>
            </a:solidFill>
            <a:prstDash val="solid"/>
            <a:headEnd type="none" len="sm" w="sm"/>
            <a:tailEnd type="none" len="sm" w="sm"/>
          </a:ln>
        </p:spPr>
      </p:sp>
      <p:sp>
        <p:nvSpPr>
          <p:cNvPr name="AutoShape 7" id="7"/>
          <p:cNvSpPr/>
          <p:nvPr/>
        </p:nvSpPr>
        <p:spPr>
          <a:xfrm>
            <a:off x="1028700" y="1373162"/>
            <a:ext cx="16230600" cy="0"/>
          </a:xfrm>
          <a:prstGeom prst="line">
            <a:avLst/>
          </a:prstGeom>
          <a:ln cap="rnd" w="19050">
            <a:solidFill>
              <a:srgbClr val="FFFFFF"/>
            </a:solidFill>
            <a:prstDash val="solid"/>
            <a:headEnd type="none" len="sm" w="sm"/>
            <a:tailEnd type="none" len="sm" w="sm"/>
          </a:ln>
        </p:spPr>
      </p:sp>
      <p:sp>
        <p:nvSpPr>
          <p:cNvPr name="AutoShape 8" id="8"/>
          <p:cNvSpPr/>
          <p:nvPr/>
        </p:nvSpPr>
        <p:spPr>
          <a:xfrm>
            <a:off x="12636606" y="5601751"/>
            <a:ext cx="3012366" cy="0"/>
          </a:xfrm>
          <a:prstGeom prst="line">
            <a:avLst/>
          </a:prstGeom>
          <a:ln cap="rnd" w="76200">
            <a:solidFill>
              <a:srgbClr val="FFFFFF"/>
            </a:solidFill>
            <a:prstDash val="solid"/>
            <a:headEnd type="none" len="sm" w="sm"/>
            <a:tailEnd type="none" len="sm" w="sm"/>
          </a:ln>
        </p:spPr>
      </p:sp>
      <p:sp>
        <p:nvSpPr>
          <p:cNvPr name="Freeform 9" id="9"/>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5999945" y="6320306"/>
            <a:ext cx="6636661" cy="3074089"/>
          </a:xfrm>
          <a:prstGeom prst="rect">
            <a:avLst/>
          </a:prstGeom>
        </p:spPr>
        <p:txBody>
          <a:bodyPr anchor="t" rtlCol="false" tIns="0" lIns="0" bIns="0" rIns="0">
            <a:spAutoFit/>
          </a:bodyPr>
          <a:lstStyle/>
          <a:p>
            <a:pPr algn="ctr">
              <a:lnSpc>
                <a:spcPts val="3433"/>
              </a:lnSpc>
            </a:pPr>
            <a:r>
              <a:rPr lang="en-US" sz="3814" spc="-228">
                <a:solidFill>
                  <a:srgbClr val="FFFFFF"/>
                </a:solidFill>
                <a:latin typeface="Helvetica World"/>
                <a:ea typeface="Helvetica World"/>
                <a:cs typeface="Helvetica World"/>
                <a:sym typeface="Helvetica World"/>
              </a:rPr>
              <a:t>presented by:</a:t>
            </a:r>
          </a:p>
          <a:p>
            <a:pPr algn="ctr">
              <a:lnSpc>
                <a:spcPts val="3433"/>
              </a:lnSpc>
            </a:pPr>
            <a:r>
              <a:rPr lang="en-US" sz="3814" spc="-228">
                <a:solidFill>
                  <a:srgbClr val="FFFFFF"/>
                </a:solidFill>
                <a:latin typeface="Helvetica World"/>
                <a:ea typeface="Helvetica World"/>
                <a:cs typeface="Helvetica World"/>
                <a:sym typeface="Helvetica World"/>
              </a:rPr>
              <a:t>Alipalo, Jaden Skye</a:t>
            </a:r>
          </a:p>
          <a:p>
            <a:pPr algn="ctr">
              <a:lnSpc>
                <a:spcPts val="3433"/>
              </a:lnSpc>
            </a:pPr>
            <a:r>
              <a:rPr lang="en-US" sz="3814" spc="-228">
                <a:solidFill>
                  <a:srgbClr val="FFFFFF"/>
                </a:solidFill>
                <a:latin typeface="Helvetica World"/>
                <a:ea typeface="Helvetica World"/>
                <a:cs typeface="Helvetica World"/>
                <a:sym typeface="Helvetica World"/>
              </a:rPr>
              <a:t>Aurin, Kurt Yuji</a:t>
            </a:r>
          </a:p>
          <a:p>
            <a:pPr algn="ctr">
              <a:lnSpc>
                <a:spcPts val="3433"/>
              </a:lnSpc>
            </a:pPr>
            <a:r>
              <a:rPr lang="en-US" sz="3814" spc="-228">
                <a:solidFill>
                  <a:srgbClr val="FFFFFF"/>
                </a:solidFill>
                <a:latin typeface="Helvetica World"/>
                <a:ea typeface="Helvetica World"/>
                <a:cs typeface="Helvetica World"/>
                <a:sym typeface="Helvetica World"/>
              </a:rPr>
              <a:t>Casipit, Gianna Solemn </a:t>
            </a:r>
          </a:p>
          <a:p>
            <a:pPr algn="ctr">
              <a:lnSpc>
                <a:spcPts val="3433"/>
              </a:lnSpc>
            </a:pPr>
            <a:r>
              <a:rPr lang="en-US" sz="3814" spc="-228">
                <a:solidFill>
                  <a:srgbClr val="FFFFFF"/>
                </a:solidFill>
                <a:latin typeface="Helvetica World"/>
                <a:ea typeface="Helvetica World"/>
                <a:cs typeface="Helvetica World"/>
                <a:sym typeface="Helvetica World"/>
              </a:rPr>
              <a:t>De Mesa, Brooklyn</a:t>
            </a:r>
          </a:p>
          <a:p>
            <a:pPr algn="ctr">
              <a:lnSpc>
                <a:spcPts val="3433"/>
              </a:lnSpc>
            </a:pPr>
            <a:r>
              <a:rPr lang="en-US" sz="3814" spc="-228">
                <a:solidFill>
                  <a:srgbClr val="FFFFFF"/>
                </a:solidFill>
                <a:latin typeface="Helvetica World"/>
                <a:ea typeface="Helvetica World"/>
                <a:cs typeface="Helvetica World"/>
                <a:sym typeface="Helvetica World"/>
              </a:rPr>
              <a:t>Manlangit, Gian Peter</a:t>
            </a:r>
          </a:p>
          <a:p>
            <a:pPr algn="ctr" marL="0" indent="0" lvl="0">
              <a:lnSpc>
                <a:spcPts val="3433"/>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773999" y="-235330"/>
            <a:ext cx="11326854" cy="11326854"/>
          </a:xfrm>
          <a:custGeom>
            <a:avLst/>
            <a:gdLst/>
            <a:ahLst/>
            <a:cxnLst/>
            <a:rect r="r" b="b" t="t" l="l"/>
            <a:pathLst>
              <a:path h="11326854" w="11326854">
                <a:moveTo>
                  <a:pt x="0" y="0"/>
                </a:moveTo>
                <a:lnTo>
                  <a:pt x="11326854" y="0"/>
                </a:lnTo>
                <a:lnTo>
                  <a:pt x="11326854" y="11326853"/>
                </a:lnTo>
                <a:lnTo>
                  <a:pt x="0" y="11326853"/>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403994" y="1707197"/>
            <a:ext cx="11007896" cy="1323451"/>
          </a:xfrm>
          <a:prstGeom prst="rect">
            <a:avLst/>
          </a:prstGeom>
        </p:spPr>
        <p:txBody>
          <a:bodyPr anchor="t" rtlCol="false" tIns="0" lIns="0" bIns="0" rIns="0">
            <a:spAutoFit/>
          </a:bodyPr>
          <a:lstStyle/>
          <a:p>
            <a:pPr algn="l" marL="0" indent="0" lvl="0">
              <a:lnSpc>
                <a:spcPts val="9662"/>
              </a:lnSpc>
            </a:pPr>
            <a:r>
              <a:rPr lang="en-US" sz="10736" spc="-644">
                <a:solidFill>
                  <a:srgbClr val="FFFFFF"/>
                </a:solidFill>
                <a:latin typeface="Helvetica World"/>
                <a:ea typeface="Helvetica World"/>
                <a:cs typeface="Helvetica World"/>
                <a:sym typeface="Helvetica World"/>
              </a:rPr>
              <a:t>P</a:t>
            </a:r>
            <a:r>
              <a:rPr lang="en-US" sz="10736" spc="-644">
                <a:solidFill>
                  <a:srgbClr val="FFFFFF"/>
                </a:solidFill>
                <a:latin typeface="Helvetica World"/>
                <a:ea typeface="Helvetica World"/>
                <a:cs typeface="Helvetica World"/>
                <a:sym typeface="Helvetica World"/>
              </a:rPr>
              <a:t>roblem Statement</a:t>
            </a:r>
          </a:p>
        </p:txBody>
      </p:sp>
      <p:sp>
        <p:nvSpPr>
          <p:cNvPr name="AutoShape 5" id="5"/>
          <p:cNvSpPr/>
          <p:nvPr/>
        </p:nvSpPr>
        <p:spPr>
          <a:xfrm>
            <a:off x="403994" y="3171684"/>
            <a:ext cx="10540004" cy="0"/>
          </a:xfrm>
          <a:prstGeom prst="line">
            <a:avLst/>
          </a:prstGeom>
          <a:ln cap="rnd" w="38100">
            <a:solidFill>
              <a:srgbClr val="FFFFFF"/>
            </a:solidFill>
            <a:prstDash val="solid"/>
            <a:headEnd type="none" len="sm" w="sm"/>
            <a:tailEnd type="none" len="sm" w="sm"/>
          </a:ln>
        </p:spPr>
      </p:sp>
      <p:sp>
        <p:nvSpPr>
          <p:cNvPr name="AutoShape 6" id="6"/>
          <p:cNvSpPr/>
          <p:nvPr/>
        </p:nvSpPr>
        <p:spPr>
          <a:xfrm>
            <a:off x="1028700" y="1373162"/>
            <a:ext cx="16230600" cy="0"/>
          </a:xfrm>
          <a:prstGeom prst="line">
            <a:avLst/>
          </a:prstGeom>
          <a:ln cap="rnd" w="19050">
            <a:solidFill>
              <a:srgbClr val="FFFFFF"/>
            </a:solidFill>
            <a:prstDash val="solid"/>
            <a:headEnd type="none" len="sm" w="sm"/>
            <a:tailEnd type="none" len="sm" w="sm"/>
          </a:ln>
        </p:spPr>
      </p:sp>
      <p:sp>
        <p:nvSpPr>
          <p:cNvPr name="TextBox 7" id="7"/>
          <p:cNvSpPr txBox="true"/>
          <p:nvPr/>
        </p:nvSpPr>
        <p:spPr>
          <a:xfrm rot="0">
            <a:off x="1685501" y="662940"/>
            <a:ext cx="2775903" cy="349250"/>
          </a:xfrm>
          <a:prstGeom prst="rect">
            <a:avLst/>
          </a:prstGeom>
        </p:spPr>
        <p:txBody>
          <a:bodyPr anchor="t" rtlCol="false" tIns="0" lIns="0" bIns="0" rIns="0">
            <a:spAutoFit/>
          </a:bodyPr>
          <a:lstStyle/>
          <a:p>
            <a:pPr algn="l">
              <a:lnSpc>
                <a:spcPts val="2800"/>
              </a:lnSpc>
            </a:pPr>
            <a:r>
              <a:rPr lang="en-US" b="true" sz="2000" spc="-152">
                <a:solidFill>
                  <a:srgbClr val="FFFFFF"/>
                </a:solidFill>
                <a:latin typeface="Open Sauce Bold"/>
                <a:ea typeface="Open Sauce Bold"/>
                <a:cs typeface="Open Sauce Bold"/>
                <a:sym typeface="Open Sauce Bold"/>
              </a:rPr>
              <a:t>Larana University</a:t>
            </a:r>
          </a:p>
        </p:txBody>
      </p:sp>
      <p:sp>
        <p:nvSpPr>
          <p:cNvPr name="TextBox 8" id="8"/>
          <p:cNvSpPr txBox="true"/>
          <p:nvPr/>
        </p:nvSpPr>
        <p:spPr>
          <a:xfrm rot="0">
            <a:off x="14281305" y="646430"/>
            <a:ext cx="2977995" cy="382270"/>
          </a:xfrm>
          <a:prstGeom prst="rect">
            <a:avLst/>
          </a:prstGeom>
        </p:spPr>
        <p:txBody>
          <a:bodyPr anchor="t" rtlCol="false" tIns="0" lIns="0" bIns="0" rIns="0">
            <a:spAutoFit/>
          </a:bodyPr>
          <a:lstStyle/>
          <a:p>
            <a:pPr algn="r">
              <a:lnSpc>
                <a:spcPts val="3079"/>
              </a:lnSpc>
            </a:pPr>
            <a:r>
              <a:rPr lang="en-US" sz="2199" spc="-180">
                <a:solidFill>
                  <a:srgbClr val="FFFFFF"/>
                </a:solidFill>
                <a:latin typeface="DM Sans"/>
                <a:ea typeface="DM Sans"/>
                <a:cs typeface="DM Sans"/>
                <a:sym typeface="DM Sans"/>
              </a:rPr>
              <a:t>December 13, 2027</a:t>
            </a:r>
          </a:p>
        </p:txBody>
      </p:sp>
      <p:grpSp>
        <p:nvGrpSpPr>
          <p:cNvPr name="Group 9" id="9"/>
          <p:cNvGrpSpPr/>
          <p:nvPr/>
        </p:nvGrpSpPr>
        <p:grpSpPr>
          <a:xfrm rot="0">
            <a:off x="482002" y="4228120"/>
            <a:ext cx="6520309" cy="1199977"/>
            <a:chOff x="0" y="0"/>
            <a:chExt cx="1913561" cy="352166"/>
          </a:xfrm>
        </p:grpSpPr>
        <p:sp>
          <p:nvSpPr>
            <p:cNvPr name="Freeform 10" id="10"/>
            <p:cNvSpPr/>
            <p:nvPr/>
          </p:nvSpPr>
          <p:spPr>
            <a:xfrm flipH="false" flipV="false" rot="0">
              <a:off x="0" y="0"/>
              <a:ext cx="1913561" cy="352166"/>
            </a:xfrm>
            <a:custGeom>
              <a:avLst/>
              <a:gdLst/>
              <a:ahLst/>
              <a:cxnLst/>
              <a:rect r="r" b="b" t="t" l="l"/>
              <a:pathLst>
                <a:path h="352166" w="1913561">
                  <a:moveTo>
                    <a:pt x="71241" y="0"/>
                  </a:moveTo>
                  <a:lnTo>
                    <a:pt x="1842319" y="0"/>
                  </a:lnTo>
                  <a:cubicBezTo>
                    <a:pt x="1861214" y="0"/>
                    <a:pt x="1879334" y="7506"/>
                    <a:pt x="1892694" y="20866"/>
                  </a:cubicBezTo>
                  <a:cubicBezTo>
                    <a:pt x="1906055" y="34226"/>
                    <a:pt x="1913561" y="52347"/>
                    <a:pt x="1913561" y="71241"/>
                  </a:cubicBezTo>
                  <a:lnTo>
                    <a:pt x="1913561" y="280924"/>
                  </a:lnTo>
                  <a:cubicBezTo>
                    <a:pt x="1913561" y="320270"/>
                    <a:pt x="1881665" y="352166"/>
                    <a:pt x="1842319" y="352166"/>
                  </a:cubicBezTo>
                  <a:lnTo>
                    <a:pt x="71241" y="352166"/>
                  </a:lnTo>
                  <a:cubicBezTo>
                    <a:pt x="52347" y="352166"/>
                    <a:pt x="34226" y="344660"/>
                    <a:pt x="20866" y="331300"/>
                  </a:cubicBezTo>
                  <a:cubicBezTo>
                    <a:pt x="7506" y="317939"/>
                    <a:pt x="0" y="299819"/>
                    <a:pt x="0" y="280924"/>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1" id="11"/>
            <p:cNvSpPr txBox="true"/>
            <p:nvPr/>
          </p:nvSpPr>
          <p:spPr>
            <a:xfrm>
              <a:off x="0" y="-38100"/>
              <a:ext cx="1913561" cy="39026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033465" y="5428097"/>
            <a:ext cx="6520309" cy="1255144"/>
            <a:chOff x="0" y="0"/>
            <a:chExt cx="1913561" cy="368356"/>
          </a:xfrm>
        </p:grpSpPr>
        <p:sp>
          <p:nvSpPr>
            <p:cNvPr name="Freeform 13" id="13"/>
            <p:cNvSpPr/>
            <p:nvPr/>
          </p:nvSpPr>
          <p:spPr>
            <a:xfrm flipH="false" flipV="false" rot="0">
              <a:off x="0" y="0"/>
              <a:ext cx="1913561" cy="368356"/>
            </a:xfrm>
            <a:custGeom>
              <a:avLst/>
              <a:gdLst/>
              <a:ahLst/>
              <a:cxnLst/>
              <a:rect r="r" b="b" t="t" l="l"/>
              <a:pathLst>
                <a:path h="368356" w="1913561">
                  <a:moveTo>
                    <a:pt x="71241" y="0"/>
                  </a:moveTo>
                  <a:lnTo>
                    <a:pt x="1842319" y="0"/>
                  </a:lnTo>
                  <a:cubicBezTo>
                    <a:pt x="1861214" y="0"/>
                    <a:pt x="1879334" y="7506"/>
                    <a:pt x="1892694" y="20866"/>
                  </a:cubicBezTo>
                  <a:cubicBezTo>
                    <a:pt x="1906055" y="34226"/>
                    <a:pt x="1913561" y="52347"/>
                    <a:pt x="1913561" y="71241"/>
                  </a:cubicBezTo>
                  <a:lnTo>
                    <a:pt x="1913561" y="297115"/>
                  </a:lnTo>
                  <a:cubicBezTo>
                    <a:pt x="1913561" y="336460"/>
                    <a:pt x="1881665" y="368356"/>
                    <a:pt x="1842319" y="368356"/>
                  </a:cubicBezTo>
                  <a:lnTo>
                    <a:pt x="71241" y="368356"/>
                  </a:lnTo>
                  <a:cubicBezTo>
                    <a:pt x="52347" y="368356"/>
                    <a:pt x="34226" y="360850"/>
                    <a:pt x="20866" y="347490"/>
                  </a:cubicBezTo>
                  <a:cubicBezTo>
                    <a:pt x="7506" y="334129"/>
                    <a:pt x="0" y="316009"/>
                    <a:pt x="0" y="297115"/>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4" id="14"/>
            <p:cNvSpPr txBox="true"/>
            <p:nvPr/>
          </p:nvSpPr>
          <p:spPr>
            <a:xfrm>
              <a:off x="0" y="-38100"/>
              <a:ext cx="1913561" cy="40645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82002" y="3427915"/>
            <a:ext cx="4736837" cy="1028862"/>
            <a:chOff x="0" y="0"/>
            <a:chExt cx="1390153" cy="301947"/>
          </a:xfrm>
        </p:grpSpPr>
        <p:sp>
          <p:nvSpPr>
            <p:cNvPr name="Freeform 16" id="16"/>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7" id="17"/>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1033465" y="4638618"/>
            <a:ext cx="4736837" cy="1028862"/>
            <a:chOff x="0" y="0"/>
            <a:chExt cx="1390153" cy="301947"/>
          </a:xfrm>
        </p:grpSpPr>
        <p:sp>
          <p:nvSpPr>
            <p:cNvPr name="Freeform 19" id="19"/>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20" id="20"/>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872742" y="4552027"/>
            <a:ext cx="5738830" cy="637667"/>
          </a:xfrm>
          <a:prstGeom prst="rect">
            <a:avLst/>
          </a:prstGeom>
        </p:spPr>
        <p:txBody>
          <a:bodyPr anchor="t" rtlCol="false" tIns="0" lIns="0" bIns="0" rIns="0">
            <a:spAutoFit/>
          </a:bodyPr>
          <a:lstStyle/>
          <a:p>
            <a:pPr algn="l">
              <a:lnSpc>
                <a:spcPts val="2583"/>
              </a:lnSpc>
            </a:pPr>
            <a:r>
              <a:rPr lang="en-US" sz="1899" spc="-47">
                <a:solidFill>
                  <a:srgbClr val="FFFFFF"/>
                </a:solidFill>
                <a:latin typeface="DM Sans"/>
                <a:ea typeface="DM Sans"/>
                <a:cs typeface="DM Sans"/>
                <a:sym typeface="DM Sans"/>
              </a:rPr>
              <a:t>Many students struggle to manage their weekly allowances effectively</a:t>
            </a:r>
          </a:p>
        </p:txBody>
      </p:sp>
      <p:sp>
        <p:nvSpPr>
          <p:cNvPr name="TextBox 22" id="22"/>
          <p:cNvSpPr txBox="true"/>
          <p:nvPr/>
        </p:nvSpPr>
        <p:spPr>
          <a:xfrm rot="0">
            <a:off x="11411890" y="5835689"/>
            <a:ext cx="5738830" cy="637667"/>
          </a:xfrm>
          <a:prstGeom prst="rect">
            <a:avLst/>
          </a:prstGeom>
        </p:spPr>
        <p:txBody>
          <a:bodyPr anchor="t" rtlCol="false" tIns="0" lIns="0" bIns="0" rIns="0">
            <a:spAutoFit/>
          </a:bodyPr>
          <a:lstStyle/>
          <a:p>
            <a:pPr algn="l">
              <a:lnSpc>
                <a:spcPts val="2583"/>
              </a:lnSpc>
            </a:pPr>
            <a:r>
              <a:rPr lang="en-US" sz="1899" spc="-47">
                <a:solidFill>
                  <a:srgbClr val="FFFFFF"/>
                </a:solidFill>
                <a:latin typeface="DM Sans"/>
                <a:ea typeface="DM Sans"/>
                <a:cs typeface="DM Sans"/>
                <a:sym typeface="DM Sans"/>
              </a:rPr>
              <a:t>Students need a user-friendly system to monitor their spendings</a:t>
            </a:r>
          </a:p>
        </p:txBody>
      </p:sp>
      <p:sp>
        <p:nvSpPr>
          <p:cNvPr name="TextBox 23" id="23"/>
          <p:cNvSpPr txBox="true"/>
          <p:nvPr/>
        </p:nvSpPr>
        <p:spPr>
          <a:xfrm rot="0">
            <a:off x="739688" y="3608948"/>
            <a:ext cx="364344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Problem 1</a:t>
            </a:r>
          </a:p>
        </p:txBody>
      </p:sp>
      <p:sp>
        <p:nvSpPr>
          <p:cNvPr name="TextBox 24" id="24"/>
          <p:cNvSpPr txBox="true"/>
          <p:nvPr/>
        </p:nvSpPr>
        <p:spPr>
          <a:xfrm rot="0">
            <a:off x="11411890" y="4800647"/>
            <a:ext cx="364344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Rationale 1</a:t>
            </a:r>
          </a:p>
        </p:txBody>
      </p:sp>
      <p:sp>
        <p:nvSpPr>
          <p:cNvPr name="Freeform 25" id="25"/>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11021150" y="2985905"/>
            <a:ext cx="7706457" cy="1367596"/>
          </a:xfrm>
          <a:prstGeom prst="rect">
            <a:avLst/>
          </a:prstGeom>
        </p:spPr>
        <p:txBody>
          <a:bodyPr anchor="t" rtlCol="false" tIns="0" lIns="0" bIns="0" rIns="0">
            <a:spAutoFit/>
          </a:bodyPr>
          <a:lstStyle/>
          <a:p>
            <a:pPr algn="l" marL="0" indent="0" lvl="0">
              <a:lnSpc>
                <a:spcPts val="9932"/>
              </a:lnSpc>
            </a:pPr>
            <a:r>
              <a:rPr lang="en-US" sz="11036" spc="-662">
                <a:solidFill>
                  <a:srgbClr val="FFFFFF"/>
                </a:solidFill>
                <a:latin typeface="Helvetica World"/>
                <a:ea typeface="Helvetica World"/>
                <a:cs typeface="Helvetica World"/>
                <a:sym typeface="Helvetica World"/>
              </a:rPr>
              <a:t>&amp;  Rationale</a:t>
            </a:r>
          </a:p>
        </p:txBody>
      </p:sp>
      <p:sp>
        <p:nvSpPr>
          <p:cNvPr name="AutoShape 27" id="27"/>
          <p:cNvSpPr/>
          <p:nvPr/>
        </p:nvSpPr>
        <p:spPr>
          <a:xfrm flipV="true">
            <a:off x="11026643" y="4334451"/>
            <a:ext cx="6782897" cy="0"/>
          </a:xfrm>
          <a:prstGeom prst="line">
            <a:avLst/>
          </a:prstGeom>
          <a:ln cap="rnd" w="38100">
            <a:solidFill>
              <a:srgbClr val="FFFFFF"/>
            </a:solidFill>
            <a:prstDash val="solid"/>
            <a:headEnd type="none" len="sm" w="sm"/>
            <a:tailEnd type="none" len="sm" w="sm"/>
          </a:ln>
        </p:spPr>
      </p:sp>
      <p:sp>
        <p:nvSpPr>
          <p:cNvPr name="Freeform 28" id="28"/>
          <p:cNvSpPr/>
          <p:nvPr/>
        </p:nvSpPr>
        <p:spPr>
          <a:xfrm flipH="true" flipV="true" rot="0">
            <a:off x="-6397441" y="1706537"/>
            <a:ext cx="11326854" cy="11326854"/>
          </a:xfrm>
          <a:custGeom>
            <a:avLst/>
            <a:gdLst/>
            <a:ahLst/>
            <a:cxnLst/>
            <a:rect r="r" b="b" t="t" l="l"/>
            <a:pathLst>
              <a:path h="11326854" w="11326854">
                <a:moveTo>
                  <a:pt x="11326854" y="11326853"/>
                </a:moveTo>
                <a:lnTo>
                  <a:pt x="0" y="11326853"/>
                </a:lnTo>
                <a:lnTo>
                  <a:pt x="0" y="0"/>
                </a:lnTo>
                <a:lnTo>
                  <a:pt x="11326854" y="0"/>
                </a:lnTo>
                <a:lnTo>
                  <a:pt x="11326854" y="11326853"/>
                </a:lnTo>
                <a:close/>
              </a:path>
            </a:pathLst>
          </a:custGeom>
          <a:blipFill>
            <a:blip r:embed="rId2">
              <a:alphaModFix amt="40000"/>
            </a:blip>
            <a:stretch>
              <a:fillRect l="0" t="0" r="0" b="0"/>
            </a:stretch>
          </a:blipFill>
        </p:spPr>
      </p:sp>
      <p:grpSp>
        <p:nvGrpSpPr>
          <p:cNvPr name="Group 29" id="29"/>
          <p:cNvGrpSpPr/>
          <p:nvPr/>
        </p:nvGrpSpPr>
        <p:grpSpPr>
          <a:xfrm rot="0">
            <a:off x="482002" y="6454583"/>
            <a:ext cx="6520309" cy="1199977"/>
            <a:chOff x="0" y="0"/>
            <a:chExt cx="1913561" cy="352166"/>
          </a:xfrm>
        </p:grpSpPr>
        <p:sp>
          <p:nvSpPr>
            <p:cNvPr name="Freeform 30" id="30"/>
            <p:cNvSpPr/>
            <p:nvPr/>
          </p:nvSpPr>
          <p:spPr>
            <a:xfrm flipH="false" flipV="false" rot="0">
              <a:off x="0" y="0"/>
              <a:ext cx="1913561" cy="352166"/>
            </a:xfrm>
            <a:custGeom>
              <a:avLst/>
              <a:gdLst/>
              <a:ahLst/>
              <a:cxnLst/>
              <a:rect r="r" b="b" t="t" l="l"/>
              <a:pathLst>
                <a:path h="352166" w="1913561">
                  <a:moveTo>
                    <a:pt x="71241" y="0"/>
                  </a:moveTo>
                  <a:lnTo>
                    <a:pt x="1842319" y="0"/>
                  </a:lnTo>
                  <a:cubicBezTo>
                    <a:pt x="1861214" y="0"/>
                    <a:pt x="1879334" y="7506"/>
                    <a:pt x="1892694" y="20866"/>
                  </a:cubicBezTo>
                  <a:cubicBezTo>
                    <a:pt x="1906055" y="34226"/>
                    <a:pt x="1913561" y="52347"/>
                    <a:pt x="1913561" y="71241"/>
                  </a:cubicBezTo>
                  <a:lnTo>
                    <a:pt x="1913561" y="280924"/>
                  </a:lnTo>
                  <a:cubicBezTo>
                    <a:pt x="1913561" y="320270"/>
                    <a:pt x="1881665" y="352166"/>
                    <a:pt x="1842319" y="352166"/>
                  </a:cubicBezTo>
                  <a:lnTo>
                    <a:pt x="71241" y="352166"/>
                  </a:lnTo>
                  <a:cubicBezTo>
                    <a:pt x="52347" y="352166"/>
                    <a:pt x="34226" y="344660"/>
                    <a:pt x="20866" y="331300"/>
                  </a:cubicBezTo>
                  <a:cubicBezTo>
                    <a:pt x="7506" y="317939"/>
                    <a:pt x="0" y="299819"/>
                    <a:pt x="0" y="280924"/>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31" id="31"/>
            <p:cNvSpPr txBox="true"/>
            <p:nvPr/>
          </p:nvSpPr>
          <p:spPr>
            <a:xfrm>
              <a:off x="0" y="-38100"/>
              <a:ext cx="1913561" cy="390266"/>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482002" y="5654379"/>
            <a:ext cx="4736837" cy="1028862"/>
            <a:chOff x="0" y="0"/>
            <a:chExt cx="1390153" cy="301947"/>
          </a:xfrm>
        </p:grpSpPr>
        <p:sp>
          <p:nvSpPr>
            <p:cNvPr name="Freeform 33" id="33"/>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34" id="34"/>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872742" y="6778491"/>
            <a:ext cx="5738830" cy="313817"/>
          </a:xfrm>
          <a:prstGeom prst="rect">
            <a:avLst/>
          </a:prstGeom>
        </p:spPr>
        <p:txBody>
          <a:bodyPr anchor="t" rtlCol="false" tIns="0" lIns="0" bIns="0" rIns="0">
            <a:spAutoFit/>
          </a:bodyPr>
          <a:lstStyle/>
          <a:p>
            <a:pPr algn="l">
              <a:lnSpc>
                <a:spcPts val="2583"/>
              </a:lnSpc>
            </a:pPr>
            <a:r>
              <a:rPr lang="en-US" sz="1899" spc="-47">
                <a:solidFill>
                  <a:srgbClr val="FFFFFF"/>
                </a:solidFill>
                <a:latin typeface="DM Sans"/>
                <a:ea typeface="DM Sans"/>
                <a:cs typeface="DM Sans"/>
                <a:sym typeface="DM Sans"/>
              </a:rPr>
              <a:t>They often overspend on non-essential items</a:t>
            </a:r>
          </a:p>
        </p:txBody>
      </p:sp>
      <p:sp>
        <p:nvSpPr>
          <p:cNvPr name="TextBox 36" id="36"/>
          <p:cNvSpPr txBox="true"/>
          <p:nvPr/>
        </p:nvSpPr>
        <p:spPr>
          <a:xfrm rot="0">
            <a:off x="739688" y="5835412"/>
            <a:ext cx="364344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Problem 2</a:t>
            </a:r>
          </a:p>
        </p:txBody>
      </p:sp>
      <p:sp>
        <p:nvSpPr>
          <p:cNvPr name="Freeform 37" id="37"/>
          <p:cNvSpPr/>
          <p:nvPr/>
        </p:nvSpPr>
        <p:spPr>
          <a:xfrm flipH="true" flipV="true" rot="0">
            <a:off x="-2820407" y="2493698"/>
            <a:ext cx="11326854" cy="11326854"/>
          </a:xfrm>
          <a:custGeom>
            <a:avLst/>
            <a:gdLst/>
            <a:ahLst/>
            <a:cxnLst/>
            <a:rect r="r" b="b" t="t" l="l"/>
            <a:pathLst>
              <a:path h="11326854" w="11326854">
                <a:moveTo>
                  <a:pt x="11326853" y="11326854"/>
                </a:moveTo>
                <a:lnTo>
                  <a:pt x="0" y="11326854"/>
                </a:lnTo>
                <a:lnTo>
                  <a:pt x="0" y="0"/>
                </a:lnTo>
                <a:lnTo>
                  <a:pt x="11326853" y="0"/>
                </a:lnTo>
                <a:lnTo>
                  <a:pt x="11326853" y="11326854"/>
                </a:lnTo>
                <a:close/>
              </a:path>
            </a:pathLst>
          </a:custGeom>
          <a:blipFill>
            <a:blip r:embed="rId2">
              <a:alphaModFix amt="40000"/>
            </a:blip>
            <a:stretch>
              <a:fillRect l="0" t="0" r="0" b="0"/>
            </a:stretch>
          </a:blipFill>
        </p:spPr>
      </p:sp>
      <p:sp>
        <p:nvSpPr>
          <p:cNvPr name="Freeform 38" id="38"/>
          <p:cNvSpPr/>
          <p:nvPr/>
        </p:nvSpPr>
        <p:spPr>
          <a:xfrm flipH="true" flipV="true" rot="0">
            <a:off x="-9487257" y="-235330"/>
            <a:ext cx="11326854" cy="11326854"/>
          </a:xfrm>
          <a:custGeom>
            <a:avLst/>
            <a:gdLst/>
            <a:ahLst/>
            <a:cxnLst/>
            <a:rect r="r" b="b" t="t" l="l"/>
            <a:pathLst>
              <a:path h="11326854" w="11326854">
                <a:moveTo>
                  <a:pt x="11326853" y="11326853"/>
                </a:moveTo>
                <a:lnTo>
                  <a:pt x="0" y="11326853"/>
                </a:lnTo>
                <a:lnTo>
                  <a:pt x="0" y="0"/>
                </a:lnTo>
                <a:lnTo>
                  <a:pt x="11326853" y="0"/>
                </a:lnTo>
                <a:lnTo>
                  <a:pt x="11326853" y="11326853"/>
                </a:lnTo>
                <a:close/>
              </a:path>
            </a:pathLst>
          </a:custGeom>
          <a:blipFill>
            <a:blip r:embed="rId2">
              <a:alphaModFix amt="40000"/>
            </a:blip>
            <a:stretch>
              <a:fillRect l="0" t="0" r="0" b="0"/>
            </a:stretch>
          </a:blipFill>
        </p:spPr>
      </p:sp>
      <p:grpSp>
        <p:nvGrpSpPr>
          <p:cNvPr name="Group 39" id="39"/>
          <p:cNvGrpSpPr/>
          <p:nvPr/>
        </p:nvGrpSpPr>
        <p:grpSpPr>
          <a:xfrm rot="0">
            <a:off x="583560" y="8709622"/>
            <a:ext cx="6520309" cy="1199977"/>
            <a:chOff x="0" y="0"/>
            <a:chExt cx="1913561" cy="352166"/>
          </a:xfrm>
        </p:grpSpPr>
        <p:sp>
          <p:nvSpPr>
            <p:cNvPr name="Freeform 40" id="40"/>
            <p:cNvSpPr/>
            <p:nvPr/>
          </p:nvSpPr>
          <p:spPr>
            <a:xfrm flipH="false" flipV="false" rot="0">
              <a:off x="0" y="0"/>
              <a:ext cx="1913561" cy="352166"/>
            </a:xfrm>
            <a:custGeom>
              <a:avLst/>
              <a:gdLst/>
              <a:ahLst/>
              <a:cxnLst/>
              <a:rect r="r" b="b" t="t" l="l"/>
              <a:pathLst>
                <a:path h="352166" w="1913561">
                  <a:moveTo>
                    <a:pt x="71241" y="0"/>
                  </a:moveTo>
                  <a:lnTo>
                    <a:pt x="1842319" y="0"/>
                  </a:lnTo>
                  <a:cubicBezTo>
                    <a:pt x="1861214" y="0"/>
                    <a:pt x="1879334" y="7506"/>
                    <a:pt x="1892694" y="20866"/>
                  </a:cubicBezTo>
                  <a:cubicBezTo>
                    <a:pt x="1906055" y="34226"/>
                    <a:pt x="1913561" y="52347"/>
                    <a:pt x="1913561" y="71241"/>
                  </a:cubicBezTo>
                  <a:lnTo>
                    <a:pt x="1913561" y="280924"/>
                  </a:lnTo>
                  <a:cubicBezTo>
                    <a:pt x="1913561" y="320270"/>
                    <a:pt x="1881665" y="352166"/>
                    <a:pt x="1842319" y="352166"/>
                  </a:cubicBezTo>
                  <a:lnTo>
                    <a:pt x="71241" y="352166"/>
                  </a:lnTo>
                  <a:cubicBezTo>
                    <a:pt x="52347" y="352166"/>
                    <a:pt x="34226" y="344660"/>
                    <a:pt x="20866" y="331300"/>
                  </a:cubicBezTo>
                  <a:cubicBezTo>
                    <a:pt x="7506" y="317939"/>
                    <a:pt x="0" y="299819"/>
                    <a:pt x="0" y="280924"/>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1" id="41"/>
            <p:cNvSpPr txBox="true"/>
            <p:nvPr/>
          </p:nvSpPr>
          <p:spPr>
            <a:xfrm>
              <a:off x="0" y="-38100"/>
              <a:ext cx="1913561" cy="390266"/>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583560" y="7909418"/>
            <a:ext cx="4736837" cy="1028862"/>
            <a:chOff x="0" y="0"/>
            <a:chExt cx="1390153" cy="301947"/>
          </a:xfrm>
        </p:grpSpPr>
        <p:sp>
          <p:nvSpPr>
            <p:cNvPr name="Freeform 43" id="43"/>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4" id="44"/>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974300" y="9033529"/>
            <a:ext cx="5738830" cy="313817"/>
          </a:xfrm>
          <a:prstGeom prst="rect">
            <a:avLst/>
          </a:prstGeom>
        </p:spPr>
        <p:txBody>
          <a:bodyPr anchor="t" rtlCol="false" tIns="0" lIns="0" bIns="0" rIns="0">
            <a:spAutoFit/>
          </a:bodyPr>
          <a:lstStyle/>
          <a:p>
            <a:pPr algn="l">
              <a:lnSpc>
                <a:spcPts val="2583"/>
              </a:lnSpc>
            </a:pPr>
            <a:r>
              <a:rPr lang="en-US" sz="1899" spc="-47">
                <a:solidFill>
                  <a:srgbClr val="FFFFFF"/>
                </a:solidFill>
                <a:latin typeface="DM Sans"/>
                <a:ea typeface="DM Sans"/>
                <a:cs typeface="DM Sans"/>
                <a:sym typeface="DM Sans"/>
              </a:rPr>
              <a:t>There is no consistent way to track daily expenses</a:t>
            </a:r>
          </a:p>
        </p:txBody>
      </p:sp>
      <p:sp>
        <p:nvSpPr>
          <p:cNvPr name="TextBox 46" id="46"/>
          <p:cNvSpPr txBox="true"/>
          <p:nvPr/>
        </p:nvSpPr>
        <p:spPr>
          <a:xfrm rot="0">
            <a:off x="841247" y="8090450"/>
            <a:ext cx="364344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Problem 3</a:t>
            </a:r>
          </a:p>
        </p:txBody>
      </p:sp>
      <p:grpSp>
        <p:nvGrpSpPr>
          <p:cNvPr name="Group 47" id="47"/>
          <p:cNvGrpSpPr/>
          <p:nvPr/>
        </p:nvGrpSpPr>
        <p:grpSpPr>
          <a:xfrm rot="0">
            <a:off x="9225266" y="7464314"/>
            <a:ext cx="4008345" cy="2436268"/>
            <a:chOff x="0" y="0"/>
            <a:chExt cx="1176357" cy="714988"/>
          </a:xfrm>
        </p:grpSpPr>
        <p:sp>
          <p:nvSpPr>
            <p:cNvPr name="Freeform 48" id="48"/>
            <p:cNvSpPr/>
            <p:nvPr/>
          </p:nvSpPr>
          <p:spPr>
            <a:xfrm flipH="false" flipV="false" rot="0">
              <a:off x="0" y="0"/>
              <a:ext cx="1176357" cy="714988"/>
            </a:xfrm>
            <a:custGeom>
              <a:avLst/>
              <a:gdLst/>
              <a:ahLst/>
              <a:cxnLst/>
              <a:rect r="r" b="b" t="t" l="l"/>
              <a:pathLst>
                <a:path h="714988" w="1176357">
                  <a:moveTo>
                    <a:pt x="115887" y="0"/>
                  </a:moveTo>
                  <a:lnTo>
                    <a:pt x="1060470" y="0"/>
                  </a:lnTo>
                  <a:cubicBezTo>
                    <a:pt x="1124472" y="0"/>
                    <a:pt x="1176357" y="51884"/>
                    <a:pt x="1176357" y="115887"/>
                  </a:cubicBezTo>
                  <a:lnTo>
                    <a:pt x="1176357" y="599101"/>
                  </a:lnTo>
                  <a:cubicBezTo>
                    <a:pt x="1176357" y="663104"/>
                    <a:pt x="1124472" y="714988"/>
                    <a:pt x="1060470" y="714988"/>
                  </a:cubicBezTo>
                  <a:lnTo>
                    <a:pt x="115887" y="714988"/>
                  </a:lnTo>
                  <a:cubicBezTo>
                    <a:pt x="51884" y="714988"/>
                    <a:pt x="0" y="663104"/>
                    <a:pt x="0" y="599101"/>
                  </a:cubicBezTo>
                  <a:lnTo>
                    <a:pt x="0" y="115887"/>
                  </a:lnTo>
                  <a:cubicBezTo>
                    <a:pt x="0" y="51884"/>
                    <a:pt x="51884" y="0"/>
                    <a:pt x="115887"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9" id="49"/>
            <p:cNvSpPr txBox="true"/>
            <p:nvPr/>
          </p:nvSpPr>
          <p:spPr>
            <a:xfrm>
              <a:off x="0" y="-38100"/>
              <a:ext cx="1176357" cy="753088"/>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9398059" y="6968991"/>
            <a:ext cx="3270812" cy="1028862"/>
            <a:chOff x="0" y="0"/>
            <a:chExt cx="959908" cy="301947"/>
          </a:xfrm>
        </p:grpSpPr>
        <p:sp>
          <p:nvSpPr>
            <p:cNvPr name="Freeform 51" id="51"/>
            <p:cNvSpPr/>
            <p:nvPr/>
          </p:nvSpPr>
          <p:spPr>
            <a:xfrm flipH="false" flipV="false" rot="0">
              <a:off x="0" y="0"/>
              <a:ext cx="959908" cy="301947"/>
            </a:xfrm>
            <a:custGeom>
              <a:avLst/>
              <a:gdLst/>
              <a:ahLst/>
              <a:cxnLst/>
              <a:rect r="r" b="b" t="t" l="l"/>
              <a:pathLst>
                <a:path h="301947" w="959908">
                  <a:moveTo>
                    <a:pt x="142018" y="0"/>
                  </a:moveTo>
                  <a:lnTo>
                    <a:pt x="817889" y="0"/>
                  </a:lnTo>
                  <a:cubicBezTo>
                    <a:pt x="896324" y="0"/>
                    <a:pt x="959908" y="63584"/>
                    <a:pt x="959908" y="142018"/>
                  </a:cubicBezTo>
                  <a:lnTo>
                    <a:pt x="959908" y="159929"/>
                  </a:lnTo>
                  <a:cubicBezTo>
                    <a:pt x="959908" y="238363"/>
                    <a:pt x="896324" y="301947"/>
                    <a:pt x="817889" y="301947"/>
                  </a:cubicBezTo>
                  <a:lnTo>
                    <a:pt x="142018" y="301947"/>
                  </a:lnTo>
                  <a:cubicBezTo>
                    <a:pt x="63584" y="301947"/>
                    <a:pt x="0" y="238363"/>
                    <a:pt x="0" y="159929"/>
                  </a:cubicBezTo>
                  <a:lnTo>
                    <a:pt x="0" y="142018"/>
                  </a:lnTo>
                  <a:cubicBezTo>
                    <a:pt x="0" y="63584"/>
                    <a:pt x="63584" y="0"/>
                    <a:pt x="142018"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52" id="52"/>
            <p:cNvSpPr txBox="true"/>
            <p:nvPr/>
          </p:nvSpPr>
          <p:spPr>
            <a:xfrm>
              <a:off x="0" y="-38100"/>
              <a:ext cx="959908" cy="340047"/>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9465472" y="8325758"/>
            <a:ext cx="3527932" cy="736346"/>
          </a:xfrm>
          <a:prstGeom prst="rect">
            <a:avLst/>
          </a:prstGeom>
        </p:spPr>
        <p:txBody>
          <a:bodyPr anchor="t" rtlCol="false" tIns="0" lIns="0" bIns="0" rIns="0">
            <a:spAutoFit/>
          </a:bodyPr>
          <a:lstStyle/>
          <a:p>
            <a:pPr algn="l">
              <a:lnSpc>
                <a:spcPts val="2991"/>
              </a:lnSpc>
            </a:pPr>
            <a:r>
              <a:rPr lang="en-US" sz="2199" spc="-54">
                <a:solidFill>
                  <a:srgbClr val="FFFFFF"/>
                </a:solidFill>
                <a:latin typeface="DM Sans"/>
                <a:ea typeface="DM Sans"/>
                <a:cs typeface="DM Sans"/>
                <a:sym typeface="DM Sans"/>
              </a:rPr>
              <a:t>Proper budgeting helps prioritize needs over wants</a:t>
            </a:r>
          </a:p>
        </p:txBody>
      </p:sp>
      <p:sp>
        <p:nvSpPr>
          <p:cNvPr name="TextBox 54" id="54"/>
          <p:cNvSpPr txBox="true"/>
          <p:nvPr/>
        </p:nvSpPr>
        <p:spPr>
          <a:xfrm rot="0">
            <a:off x="9790260" y="7111866"/>
            <a:ext cx="246178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Rationale 2</a:t>
            </a:r>
          </a:p>
        </p:txBody>
      </p:sp>
      <p:grpSp>
        <p:nvGrpSpPr>
          <p:cNvPr name="Group 55" id="55"/>
          <p:cNvGrpSpPr/>
          <p:nvPr/>
        </p:nvGrpSpPr>
        <p:grpSpPr>
          <a:xfrm rot="0">
            <a:off x="13990983" y="7369964"/>
            <a:ext cx="4008345" cy="2558309"/>
            <a:chOff x="0" y="0"/>
            <a:chExt cx="1176357" cy="750805"/>
          </a:xfrm>
        </p:grpSpPr>
        <p:sp>
          <p:nvSpPr>
            <p:cNvPr name="Freeform 56" id="56"/>
            <p:cNvSpPr/>
            <p:nvPr/>
          </p:nvSpPr>
          <p:spPr>
            <a:xfrm flipH="false" flipV="false" rot="0">
              <a:off x="0" y="0"/>
              <a:ext cx="1176357" cy="750805"/>
            </a:xfrm>
            <a:custGeom>
              <a:avLst/>
              <a:gdLst/>
              <a:ahLst/>
              <a:cxnLst/>
              <a:rect r="r" b="b" t="t" l="l"/>
              <a:pathLst>
                <a:path h="750805" w="1176357">
                  <a:moveTo>
                    <a:pt x="115887" y="0"/>
                  </a:moveTo>
                  <a:lnTo>
                    <a:pt x="1060470" y="0"/>
                  </a:lnTo>
                  <a:cubicBezTo>
                    <a:pt x="1124472" y="0"/>
                    <a:pt x="1176357" y="51884"/>
                    <a:pt x="1176357" y="115887"/>
                  </a:cubicBezTo>
                  <a:lnTo>
                    <a:pt x="1176357" y="634918"/>
                  </a:lnTo>
                  <a:cubicBezTo>
                    <a:pt x="1176357" y="698920"/>
                    <a:pt x="1124472" y="750805"/>
                    <a:pt x="1060470" y="750805"/>
                  </a:cubicBezTo>
                  <a:lnTo>
                    <a:pt x="115887" y="750805"/>
                  </a:lnTo>
                  <a:cubicBezTo>
                    <a:pt x="51884" y="750805"/>
                    <a:pt x="0" y="698920"/>
                    <a:pt x="0" y="634918"/>
                  </a:cubicBezTo>
                  <a:lnTo>
                    <a:pt x="0" y="115887"/>
                  </a:lnTo>
                  <a:cubicBezTo>
                    <a:pt x="0" y="51884"/>
                    <a:pt x="51884" y="0"/>
                    <a:pt x="115887"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57" id="57"/>
            <p:cNvSpPr txBox="true"/>
            <p:nvPr/>
          </p:nvSpPr>
          <p:spPr>
            <a:xfrm>
              <a:off x="0" y="-38100"/>
              <a:ext cx="1176357" cy="788905"/>
            </a:xfrm>
            <a:prstGeom prst="rect">
              <a:avLst/>
            </a:prstGeom>
          </p:spPr>
          <p:txBody>
            <a:bodyPr anchor="ctr" rtlCol="false" tIns="50800" lIns="50800" bIns="50800" rIns="50800"/>
            <a:lstStyle/>
            <a:p>
              <a:pPr algn="ctr">
                <a:lnSpc>
                  <a:spcPts val="2659"/>
                </a:lnSpc>
              </a:pPr>
            </a:p>
          </p:txBody>
        </p:sp>
      </p:grpSp>
      <p:grpSp>
        <p:nvGrpSpPr>
          <p:cNvPr name="Group 58" id="58"/>
          <p:cNvGrpSpPr/>
          <p:nvPr/>
        </p:nvGrpSpPr>
        <p:grpSpPr>
          <a:xfrm rot="0">
            <a:off x="13990983" y="6949687"/>
            <a:ext cx="3268317" cy="1028862"/>
            <a:chOff x="0" y="0"/>
            <a:chExt cx="959176" cy="301947"/>
          </a:xfrm>
        </p:grpSpPr>
        <p:sp>
          <p:nvSpPr>
            <p:cNvPr name="Freeform 59" id="59"/>
            <p:cNvSpPr/>
            <p:nvPr/>
          </p:nvSpPr>
          <p:spPr>
            <a:xfrm flipH="false" flipV="false" rot="0">
              <a:off x="0" y="0"/>
              <a:ext cx="959176" cy="301947"/>
            </a:xfrm>
            <a:custGeom>
              <a:avLst/>
              <a:gdLst/>
              <a:ahLst/>
              <a:cxnLst/>
              <a:rect r="r" b="b" t="t" l="l"/>
              <a:pathLst>
                <a:path h="301947" w="959176">
                  <a:moveTo>
                    <a:pt x="142127" y="0"/>
                  </a:moveTo>
                  <a:lnTo>
                    <a:pt x="817049" y="0"/>
                  </a:lnTo>
                  <a:cubicBezTo>
                    <a:pt x="854743" y="0"/>
                    <a:pt x="890894" y="14974"/>
                    <a:pt x="917548" y="41628"/>
                  </a:cubicBezTo>
                  <a:cubicBezTo>
                    <a:pt x="944202" y="68282"/>
                    <a:pt x="959176" y="104432"/>
                    <a:pt x="959176" y="142127"/>
                  </a:cubicBezTo>
                  <a:lnTo>
                    <a:pt x="959176" y="159820"/>
                  </a:lnTo>
                  <a:cubicBezTo>
                    <a:pt x="959176" y="197515"/>
                    <a:pt x="944202" y="233665"/>
                    <a:pt x="917548" y="260319"/>
                  </a:cubicBezTo>
                  <a:cubicBezTo>
                    <a:pt x="890894" y="286973"/>
                    <a:pt x="854743" y="301947"/>
                    <a:pt x="817049" y="301947"/>
                  </a:cubicBezTo>
                  <a:lnTo>
                    <a:pt x="142127" y="301947"/>
                  </a:lnTo>
                  <a:cubicBezTo>
                    <a:pt x="104432" y="301947"/>
                    <a:pt x="68282" y="286973"/>
                    <a:pt x="41628" y="260319"/>
                  </a:cubicBezTo>
                  <a:cubicBezTo>
                    <a:pt x="14974" y="233665"/>
                    <a:pt x="0" y="197515"/>
                    <a:pt x="0" y="159820"/>
                  </a:cubicBezTo>
                  <a:lnTo>
                    <a:pt x="0" y="142127"/>
                  </a:lnTo>
                  <a:cubicBezTo>
                    <a:pt x="0" y="104432"/>
                    <a:pt x="14974" y="68282"/>
                    <a:pt x="41628" y="41628"/>
                  </a:cubicBezTo>
                  <a:cubicBezTo>
                    <a:pt x="68282" y="14974"/>
                    <a:pt x="104432" y="0"/>
                    <a:pt x="142127"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60" id="60"/>
            <p:cNvSpPr txBox="true"/>
            <p:nvPr/>
          </p:nvSpPr>
          <p:spPr>
            <a:xfrm>
              <a:off x="0" y="-38100"/>
              <a:ext cx="959176" cy="340047"/>
            </a:xfrm>
            <a:prstGeom prst="rect">
              <a:avLst/>
            </a:prstGeom>
          </p:spPr>
          <p:txBody>
            <a:bodyPr anchor="ctr" rtlCol="false" tIns="50800" lIns="50800" bIns="50800" rIns="50800"/>
            <a:lstStyle/>
            <a:p>
              <a:pPr algn="ctr">
                <a:lnSpc>
                  <a:spcPts val="2659"/>
                </a:lnSpc>
              </a:pPr>
            </a:p>
          </p:txBody>
        </p:sp>
      </p:grpSp>
      <p:sp>
        <p:nvSpPr>
          <p:cNvPr name="TextBox 61" id="61"/>
          <p:cNvSpPr txBox="true"/>
          <p:nvPr/>
        </p:nvSpPr>
        <p:spPr>
          <a:xfrm rot="0">
            <a:off x="14281305" y="8325758"/>
            <a:ext cx="3527932" cy="736346"/>
          </a:xfrm>
          <a:prstGeom prst="rect">
            <a:avLst/>
          </a:prstGeom>
        </p:spPr>
        <p:txBody>
          <a:bodyPr anchor="t" rtlCol="false" tIns="0" lIns="0" bIns="0" rIns="0">
            <a:spAutoFit/>
          </a:bodyPr>
          <a:lstStyle/>
          <a:p>
            <a:pPr algn="l">
              <a:lnSpc>
                <a:spcPts val="2991"/>
              </a:lnSpc>
            </a:pPr>
            <a:r>
              <a:rPr lang="en-US" sz="2199" spc="-54">
                <a:solidFill>
                  <a:srgbClr val="FFFFFF"/>
                </a:solidFill>
                <a:latin typeface="DM Sans"/>
                <a:ea typeface="DM Sans"/>
                <a:cs typeface="DM Sans"/>
                <a:sym typeface="DM Sans"/>
              </a:rPr>
              <a:t>Tracking expenses can improve financial awareness</a:t>
            </a:r>
          </a:p>
        </p:txBody>
      </p:sp>
      <p:sp>
        <p:nvSpPr>
          <p:cNvPr name="TextBox 62" id="62"/>
          <p:cNvSpPr txBox="true"/>
          <p:nvPr/>
        </p:nvSpPr>
        <p:spPr>
          <a:xfrm rot="0">
            <a:off x="14285480" y="7130916"/>
            <a:ext cx="2679324"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Rationale 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678305" y="119946"/>
            <a:ext cx="11326854" cy="11326854"/>
          </a:xfrm>
          <a:custGeom>
            <a:avLst/>
            <a:gdLst/>
            <a:ahLst/>
            <a:cxnLst/>
            <a:rect r="r" b="b" t="t" l="l"/>
            <a:pathLst>
              <a:path h="11326854" w="11326854">
                <a:moveTo>
                  <a:pt x="0" y="0"/>
                </a:moveTo>
                <a:lnTo>
                  <a:pt x="11326854" y="0"/>
                </a:lnTo>
                <a:lnTo>
                  <a:pt x="11326854" y="11326854"/>
                </a:lnTo>
                <a:lnTo>
                  <a:pt x="0" y="11326854"/>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7549009" y="2058962"/>
            <a:ext cx="10380535" cy="2857500"/>
          </a:xfrm>
          <a:prstGeom prst="rect">
            <a:avLst/>
          </a:prstGeom>
        </p:spPr>
        <p:txBody>
          <a:bodyPr anchor="t" rtlCol="false" tIns="0" lIns="0" bIns="0" rIns="0">
            <a:spAutoFit/>
          </a:bodyPr>
          <a:lstStyle/>
          <a:p>
            <a:pPr algn="l">
              <a:lnSpc>
                <a:spcPts val="10800"/>
              </a:lnSpc>
            </a:pPr>
            <a:r>
              <a:rPr lang="en-US" sz="12000" spc="-719">
                <a:solidFill>
                  <a:srgbClr val="FFFFFF"/>
                </a:solidFill>
                <a:latin typeface="Helvetica World"/>
                <a:ea typeface="Helvetica World"/>
                <a:cs typeface="Helvetica World"/>
                <a:sym typeface="Helvetica World"/>
              </a:rPr>
              <a:t>Project Overview</a:t>
            </a:r>
          </a:p>
          <a:p>
            <a:pPr algn="l" marL="0" indent="0" lvl="0">
              <a:lnSpc>
                <a:spcPts val="10800"/>
              </a:lnSpc>
            </a:pPr>
            <a:r>
              <a:rPr lang="en-US" sz="12000" spc="-719">
                <a:solidFill>
                  <a:srgbClr val="FFFFFF"/>
                </a:solidFill>
                <a:latin typeface="Helvetica World"/>
                <a:ea typeface="Helvetica World"/>
                <a:cs typeface="Helvetica World"/>
                <a:sym typeface="Helvetica World"/>
              </a:rPr>
              <a:t>and Relevance </a:t>
            </a:r>
          </a:p>
        </p:txBody>
      </p:sp>
      <p:sp>
        <p:nvSpPr>
          <p:cNvPr name="AutoShape 5" id="5"/>
          <p:cNvSpPr/>
          <p:nvPr/>
        </p:nvSpPr>
        <p:spPr>
          <a:xfrm>
            <a:off x="7549009" y="4935512"/>
            <a:ext cx="9404983" cy="0"/>
          </a:xfrm>
          <a:prstGeom prst="line">
            <a:avLst/>
          </a:prstGeom>
          <a:ln cap="rnd" w="38100">
            <a:solidFill>
              <a:srgbClr val="FFFFFF"/>
            </a:solidFill>
            <a:prstDash val="solid"/>
            <a:headEnd type="none" len="sm" w="sm"/>
            <a:tailEnd type="none" len="sm" w="sm"/>
          </a:ln>
        </p:spPr>
      </p:sp>
      <p:sp>
        <p:nvSpPr>
          <p:cNvPr name="AutoShape 6" id="6"/>
          <p:cNvSpPr/>
          <p:nvPr/>
        </p:nvSpPr>
        <p:spPr>
          <a:xfrm>
            <a:off x="1028700" y="1373162"/>
            <a:ext cx="16230600" cy="0"/>
          </a:xfrm>
          <a:prstGeom prst="line">
            <a:avLst/>
          </a:prstGeom>
          <a:ln cap="rnd" w="19050">
            <a:solidFill>
              <a:srgbClr val="FFFFFF"/>
            </a:solidFill>
            <a:prstDash val="solid"/>
            <a:headEnd type="none" len="sm" w="sm"/>
            <a:tailEnd type="none" len="sm" w="sm"/>
          </a:ln>
        </p:spPr>
      </p:sp>
      <p:grpSp>
        <p:nvGrpSpPr>
          <p:cNvPr name="Group 7" id="7"/>
          <p:cNvGrpSpPr/>
          <p:nvPr/>
        </p:nvGrpSpPr>
        <p:grpSpPr>
          <a:xfrm rot="0">
            <a:off x="2228727" y="6752657"/>
            <a:ext cx="6520309" cy="3090080"/>
            <a:chOff x="0" y="0"/>
            <a:chExt cx="1913561" cy="906867"/>
          </a:xfrm>
        </p:grpSpPr>
        <p:sp>
          <p:nvSpPr>
            <p:cNvPr name="Freeform 8" id="8"/>
            <p:cNvSpPr/>
            <p:nvPr/>
          </p:nvSpPr>
          <p:spPr>
            <a:xfrm flipH="false" flipV="false" rot="0">
              <a:off x="0" y="0"/>
              <a:ext cx="1913561" cy="906867"/>
            </a:xfrm>
            <a:custGeom>
              <a:avLst/>
              <a:gdLst/>
              <a:ahLst/>
              <a:cxnLst/>
              <a:rect r="r" b="b" t="t" l="l"/>
              <a:pathLst>
                <a:path h="906867" w="1913561">
                  <a:moveTo>
                    <a:pt x="71241" y="0"/>
                  </a:moveTo>
                  <a:lnTo>
                    <a:pt x="1842319" y="0"/>
                  </a:lnTo>
                  <a:cubicBezTo>
                    <a:pt x="1861214" y="0"/>
                    <a:pt x="1879334" y="7506"/>
                    <a:pt x="1892694" y="20866"/>
                  </a:cubicBezTo>
                  <a:cubicBezTo>
                    <a:pt x="1906055" y="34226"/>
                    <a:pt x="1913561" y="52347"/>
                    <a:pt x="1913561" y="71241"/>
                  </a:cubicBezTo>
                  <a:lnTo>
                    <a:pt x="1913561" y="835626"/>
                  </a:lnTo>
                  <a:cubicBezTo>
                    <a:pt x="1913561" y="874971"/>
                    <a:pt x="1881665" y="906867"/>
                    <a:pt x="1842319" y="906867"/>
                  </a:cubicBezTo>
                  <a:lnTo>
                    <a:pt x="71241" y="906867"/>
                  </a:lnTo>
                  <a:cubicBezTo>
                    <a:pt x="52347" y="906867"/>
                    <a:pt x="34226" y="899361"/>
                    <a:pt x="20866" y="886001"/>
                  </a:cubicBezTo>
                  <a:cubicBezTo>
                    <a:pt x="7506" y="872641"/>
                    <a:pt x="0" y="854520"/>
                    <a:pt x="0" y="835626"/>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9" id="9"/>
            <p:cNvSpPr txBox="true"/>
            <p:nvPr/>
          </p:nvSpPr>
          <p:spPr>
            <a:xfrm>
              <a:off x="0" y="-38100"/>
              <a:ext cx="1913561" cy="94496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27272" y="2338603"/>
            <a:ext cx="6520309" cy="3090080"/>
            <a:chOff x="0" y="0"/>
            <a:chExt cx="1913561" cy="906867"/>
          </a:xfrm>
        </p:grpSpPr>
        <p:sp>
          <p:nvSpPr>
            <p:cNvPr name="Freeform 11" id="11"/>
            <p:cNvSpPr/>
            <p:nvPr/>
          </p:nvSpPr>
          <p:spPr>
            <a:xfrm flipH="false" flipV="false" rot="0">
              <a:off x="0" y="0"/>
              <a:ext cx="1913561" cy="906867"/>
            </a:xfrm>
            <a:custGeom>
              <a:avLst/>
              <a:gdLst/>
              <a:ahLst/>
              <a:cxnLst/>
              <a:rect r="r" b="b" t="t" l="l"/>
              <a:pathLst>
                <a:path h="906867" w="1913561">
                  <a:moveTo>
                    <a:pt x="71241" y="0"/>
                  </a:moveTo>
                  <a:lnTo>
                    <a:pt x="1842319" y="0"/>
                  </a:lnTo>
                  <a:cubicBezTo>
                    <a:pt x="1861214" y="0"/>
                    <a:pt x="1879334" y="7506"/>
                    <a:pt x="1892694" y="20866"/>
                  </a:cubicBezTo>
                  <a:cubicBezTo>
                    <a:pt x="1906055" y="34226"/>
                    <a:pt x="1913561" y="52347"/>
                    <a:pt x="1913561" y="71241"/>
                  </a:cubicBezTo>
                  <a:lnTo>
                    <a:pt x="1913561" y="835626"/>
                  </a:lnTo>
                  <a:cubicBezTo>
                    <a:pt x="1913561" y="874971"/>
                    <a:pt x="1881665" y="906867"/>
                    <a:pt x="1842319" y="906867"/>
                  </a:cubicBezTo>
                  <a:lnTo>
                    <a:pt x="71241" y="906867"/>
                  </a:lnTo>
                  <a:cubicBezTo>
                    <a:pt x="52347" y="906867"/>
                    <a:pt x="34226" y="899361"/>
                    <a:pt x="20866" y="886001"/>
                  </a:cubicBezTo>
                  <a:cubicBezTo>
                    <a:pt x="7506" y="872641"/>
                    <a:pt x="0" y="854520"/>
                    <a:pt x="0" y="835626"/>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2" id="12"/>
            <p:cNvSpPr txBox="true"/>
            <p:nvPr/>
          </p:nvSpPr>
          <p:spPr>
            <a:xfrm>
              <a:off x="0" y="-38100"/>
              <a:ext cx="1913561" cy="94496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2228727" y="6076382"/>
            <a:ext cx="4736837" cy="1028862"/>
            <a:chOff x="0" y="0"/>
            <a:chExt cx="1390153" cy="301947"/>
          </a:xfrm>
        </p:grpSpPr>
        <p:sp>
          <p:nvSpPr>
            <p:cNvPr name="Freeform 14" id="14"/>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5" id="15"/>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327272" y="1658576"/>
            <a:ext cx="4736837" cy="1028862"/>
            <a:chOff x="0" y="0"/>
            <a:chExt cx="1390153" cy="301947"/>
          </a:xfrm>
        </p:grpSpPr>
        <p:sp>
          <p:nvSpPr>
            <p:cNvPr name="Freeform 17" id="17"/>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8" id="18"/>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685501" y="662940"/>
            <a:ext cx="2775903" cy="349250"/>
          </a:xfrm>
          <a:prstGeom prst="rect">
            <a:avLst/>
          </a:prstGeom>
        </p:spPr>
        <p:txBody>
          <a:bodyPr anchor="t" rtlCol="false" tIns="0" lIns="0" bIns="0" rIns="0">
            <a:spAutoFit/>
          </a:bodyPr>
          <a:lstStyle/>
          <a:p>
            <a:pPr algn="l">
              <a:lnSpc>
                <a:spcPts val="2800"/>
              </a:lnSpc>
            </a:pPr>
            <a:r>
              <a:rPr lang="en-US" b="true" sz="2000" spc="-152">
                <a:solidFill>
                  <a:srgbClr val="FFFFFF"/>
                </a:solidFill>
                <a:latin typeface="Open Sauce Bold"/>
                <a:ea typeface="Open Sauce Bold"/>
                <a:cs typeface="Open Sauce Bold"/>
                <a:sym typeface="Open Sauce Bold"/>
              </a:rPr>
              <a:t>Larana University</a:t>
            </a:r>
          </a:p>
        </p:txBody>
      </p:sp>
      <p:sp>
        <p:nvSpPr>
          <p:cNvPr name="TextBox 20" id="20"/>
          <p:cNvSpPr txBox="true"/>
          <p:nvPr/>
        </p:nvSpPr>
        <p:spPr>
          <a:xfrm rot="0">
            <a:off x="2589708" y="7284704"/>
            <a:ext cx="5738830" cy="2130425"/>
          </a:xfrm>
          <a:prstGeom prst="rect">
            <a:avLst/>
          </a:prstGeom>
        </p:spPr>
        <p:txBody>
          <a:bodyPr anchor="t" rtlCol="false" tIns="0" lIns="0" bIns="0" rIns="0">
            <a:spAutoFit/>
          </a:bodyPr>
          <a:lstStyle/>
          <a:p>
            <a:pPr algn="l" marL="539746" indent="-269873" lvl="1">
              <a:lnSpc>
                <a:spcPts val="3399"/>
              </a:lnSpc>
              <a:buFont typeface="Arial"/>
              <a:buChar char="•"/>
            </a:pPr>
            <a:r>
              <a:rPr lang="en-US" sz="2499" spc="-62">
                <a:solidFill>
                  <a:srgbClr val="FFFFFF"/>
                </a:solidFill>
                <a:latin typeface="DM Sans"/>
                <a:ea typeface="DM Sans"/>
                <a:cs typeface="DM Sans"/>
                <a:sym typeface="DM Sans"/>
              </a:rPr>
              <a:t>Uses Python, JSON, and CRUD operations</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Applies basic data analysis</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Solves student budgeting problems</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Promotes financial awareness</a:t>
            </a:r>
          </a:p>
        </p:txBody>
      </p:sp>
      <p:sp>
        <p:nvSpPr>
          <p:cNvPr name="TextBox 21" id="21"/>
          <p:cNvSpPr txBox="true"/>
          <p:nvPr/>
        </p:nvSpPr>
        <p:spPr>
          <a:xfrm rot="0">
            <a:off x="567764" y="2696718"/>
            <a:ext cx="5465161" cy="2559050"/>
          </a:xfrm>
          <a:prstGeom prst="rect">
            <a:avLst/>
          </a:prstGeom>
        </p:spPr>
        <p:txBody>
          <a:bodyPr anchor="t" rtlCol="false" tIns="0" lIns="0" bIns="0" rIns="0">
            <a:spAutoFit/>
          </a:bodyPr>
          <a:lstStyle/>
          <a:p>
            <a:pPr algn="l" marL="539746" indent="-269873" lvl="1">
              <a:lnSpc>
                <a:spcPts val="3399"/>
              </a:lnSpc>
              <a:buFont typeface="Arial"/>
              <a:buChar char="•"/>
            </a:pPr>
            <a:r>
              <a:rPr lang="en-US" sz="2499" spc="-62">
                <a:solidFill>
                  <a:srgbClr val="FFFFFF"/>
                </a:solidFill>
                <a:latin typeface="DM Sans"/>
                <a:ea typeface="DM Sans"/>
                <a:cs typeface="DM Sans"/>
                <a:sym typeface="DM Sans"/>
              </a:rPr>
              <a:t>Budget Tracker built using python</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Inputs allowance and tracks expenses</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Divides budget into categories</a:t>
            </a:r>
          </a:p>
          <a:p>
            <a:pPr algn="l" marL="539746" indent="-269873" lvl="1">
              <a:lnSpc>
                <a:spcPts val="3399"/>
              </a:lnSpc>
              <a:buFont typeface="Arial"/>
              <a:buChar char="•"/>
            </a:pPr>
            <a:r>
              <a:rPr lang="en-US" sz="2499" spc="-62">
                <a:solidFill>
                  <a:srgbClr val="FFFFFF"/>
                </a:solidFill>
                <a:latin typeface="DM Sans"/>
                <a:ea typeface="DM Sans"/>
                <a:cs typeface="DM Sans"/>
                <a:sym typeface="DM Sans"/>
              </a:rPr>
              <a:t>Shows remaining balance and reports</a:t>
            </a:r>
          </a:p>
        </p:txBody>
      </p:sp>
      <p:sp>
        <p:nvSpPr>
          <p:cNvPr name="TextBox 22" id="22"/>
          <p:cNvSpPr txBox="true"/>
          <p:nvPr/>
        </p:nvSpPr>
        <p:spPr>
          <a:xfrm rot="0">
            <a:off x="2589708" y="6257415"/>
            <a:ext cx="3643441" cy="600122"/>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Relevance:</a:t>
            </a:r>
          </a:p>
        </p:txBody>
      </p:sp>
      <p:sp>
        <p:nvSpPr>
          <p:cNvPr name="TextBox 23" id="23"/>
          <p:cNvSpPr txBox="true"/>
          <p:nvPr/>
        </p:nvSpPr>
        <p:spPr>
          <a:xfrm rot="0">
            <a:off x="718012" y="1853112"/>
            <a:ext cx="3743392" cy="573959"/>
          </a:xfrm>
          <a:prstGeom prst="rect">
            <a:avLst/>
          </a:prstGeom>
        </p:spPr>
        <p:txBody>
          <a:bodyPr anchor="t" rtlCol="false" tIns="0" lIns="0" bIns="0" rIns="0">
            <a:spAutoFit/>
          </a:bodyPr>
          <a:lstStyle/>
          <a:p>
            <a:pPr algn="l">
              <a:lnSpc>
                <a:spcPts val="4686"/>
              </a:lnSpc>
            </a:pPr>
            <a:r>
              <a:rPr lang="en-US" sz="3371" spc="-107" b="true">
                <a:solidFill>
                  <a:srgbClr val="FFFFFF"/>
                </a:solidFill>
                <a:latin typeface="Now Bold"/>
                <a:ea typeface="Now Bold"/>
                <a:cs typeface="Now Bold"/>
                <a:sym typeface="Now Bold"/>
              </a:rPr>
              <a:t>Project Overview:</a:t>
            </a:r>
          </a:p>
        </p:txBody>
      </p:sp>
      <p:sp>
        <p:nvSpPr>
          <p:cNvPr name="TextBox 24" id="24"/>
          <p:cNvSpPr txBox="true"/>
          <p:nvPr/>
        </p:nvSpPr>
        <p:spPr>
          <a:xfrm rot="0">
            <a:off x="9457609" y="5381057"/>
            <a:ext cx="7801691" cy="4222240"/>
          </a:xfrm>
          <a:prstGeom prst="rect">
            <a:avLst/>
          </a:prstGeom>
        </p:spPr>
        <p:txBody>
          <a:bodyPr anchor="t" rtlCol="false" tIns="0" lIns="0" bIns="0" rIns="0">
            <a:spAutoFit/>
          </a:bodyPr>
          <a:lstStyle/>
          <a:p>
            <a:pPr algn="l">
              <a:lnSpc>
                <a:spcPts val="4012"/>
              </a:lnSpc>
            </a:pPr>
            <a:r>
              <a:rPr lang="en-US" sz="2950" spc="-73">
                <a:solidFill>
                  <a:srgbClr val="FFFFFF"/>
                </a:solidFill>
                <a:latin typeface="DM Sans"/>
                <a:ea typeface="DM Sans"/>
                <a:cs typeface="DM Sans"/>
                <a:sym typeface="DM Sans"/>
              </a:rPr>
              <a:t>A simple system that helps students manage their allowance, track expenses, and slowly build better financial habits through the help of programming.</a:t>
            </a:r>
          </a:p>
          <a:p>
            <a:pPr algn="l">
              <a:lnSpc>
                <a:spcPts val="4012"/>
              </a:lnSpc>
            </a:pPr>
          </a:p>
          <a:p>
            <a:pPr algn="l">
              <a:lnSpc>
                <a:spcPts val="4556"/>
              </a:lnSpc>
            </a:pPr>
            <a:r>
              <a:rPr lang="en-US" sz="3350" spc="-83">
                <a:solidFill>
                  <a:srgbClr val="FFFFFF"/>
                </a:solidFill>
                <a:latin typeface="DM Sans"/>
                <a:ea typeface="DM Sans"/>
                <a:cs typeface="DM Sans"/>
                <a:sym typeface="DM Sans"/>
              </a:rPr>
              <a:t>Allowance → Categorize → Track Expenses → View Balance → Analyze Spending</a:t>
            </a:r>
          </a:p>
        </p:txBody>
      </p:sp>
      <p:sp>
        <p:nvSpPr>
          <p:cNvPr name="Freeform 25" id="25"/>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678305" y="-235330"/>
            <a:ext cx="11326854" cy="11326854"/>
          </a:xfrm>
          <a:custGeom>
            <a:avLst/>
            <a:gdLst/>
            <a:ahLst/>
            <a:cxnLst/>
            <a:rect r="r" b="b" t="t" l="l"/>
            <a:pathLst>
              <a:path h="11326854" w="11326854">
                <a:moveTo>
                  <a:pt x="0" y="0"/>
                </a:moveTo>
                <a:lnTo>
                  <a:pt x="11326854" y="0"/>
                </a:lnTo>
                <a:lnTo>
                  <a:pt x="11326854" y="11326853"/>
                </a:lnTo>
                <a:lnTo>
                  <a:pt x="0" y="11326853"/>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8845594" y="1873224"/>
            <a:ext cx="7278969" cy="1485900"/>
          </a:xfrm>
          <a:prstGeom prst="rect">
            <a:avLst/>
          </a:prstGeom>
        </p:spPr>
        <p:txBody>
          <a:bodyPr anchor="t" rtlCol="false" tIns="0" lIns="0" bIns="0" rIns="0">
            <a:spAutoFit/>
          </a:bodyPr>
          <a:lstStyle/>
          <a:p>
            <a:pPr algn="l" marL="0" indent="0" lvl="0">
              <a:lnSpc>
                <a:spcPts val="10800"/>
              </a:lnSpc>
            </a:pPr>
            <a:r>
              <a:rPr lang="en-US" sz="12000" spc="-719">
                <a:solidFill>
                  <a:srgbClr val="FFFFFF"/>
                </a:solidFill>
                <a:latin typeface="Helvetica World"/>
                <a:ea typeface="Helvetica World"/>
                <a:cs typeface="Helvetica World"/>
                <a:sym typeface="Helvetica World"/>
              </a:rPr>
              <a:t>O</a:t>
            </a:r>
            <a:r>
              <a:rPr lang="en-US" sz="12000" spc="-719">
                <a:solidFill>
                  <a:srgbClr val="FFFFFF"/>
                </a:solidFill>
                <a:latin typeface="Helvetica World"/>
                <a:ea typeface="Helvetica World"/>
                <a:cs typeface="Helvetica World"/>
                <a:sym typeface="Helvetica World"/>
              </a:rPr>
              <a:t>bjectives</a:t>
            </a:r>
          </a:p>
        </p:txBody>
      </p:sp>
      <p:sp>
        <p:nvSpPr>
          <p:cNvPr name="AutoShape 5" id="5"/>
          <p:cNvSpPr/>
          <p:nvPr/>
        </p:nvSpPr>
        <p:spPr>
          <a:xfrm flipV="true">
            <a:off x="8860709" y="3340074"/>
            <a:ext cx="6543663" cy="0"/>
          </a:xfrm>
          <a:prstGeom prst="line">
            <a:avLst/>
          </a:prstGeom>
          <a:ln cap="rnd" w="38100">
            <a:solidFill>
              <a:srgbClr val="FFFFFF"/>
            </a:solidFill>
            <a:prstDash val="solid"/>
            <a:headEnd type="none" len="sm" w="sm"/>
            <a:tailEnd type="none" len="sm" w="sm"/>
          </a:ln>
        </p:spPr>
      </p:sp>
      <p:sp>
        <p:nvSpPr>
          <p:cNvPr name="AutoShape 6" id="6"/>
          <p:cNvSpPr/>
          <p:nvPr/>
        </p:nvSpPr>
        <p:spPr>
          <a:xfrm>
            <a:off x="1028700" y="1373162"/>
            <a:ext cx="16230600" cy="0"/>
          </a:xfrm>
          <a:prstGeom prst="line">
            <a:avLst/>
          </a:prstGeom>
          <a:ln cap="rnd" w="19050">
            <a:solidFill>
              <a:srgbClr val="FFFFFF"/>
            </a:solidFill>
            <a:prstDash val="solid"/>
            <a:headEnd type="none" len="sm" w="sm"/>
            <a:tailEnd type="none" len="sm" w="sm"/>
          </a:ln>
        </p:spPr>
      </p:sp>
      <p:sp>
        <p:nvSpPr>
          <p:cNvPr name="TextBox 7" id="7"/>
          <p:cNvSpPr txBox="true"/>
          <p:nvPr/>
        </p:nvSpPr>
        <p:spPr>
          <a:xfrm rot="0">
            <a:off x="1685501" y="662940"/>
            <a:ext cx="2775903" cy="349250"/>
          </a:xfrm>
          <a:prstGeom prst="rect">
            <a:avLst/>
          </a:prstGeom>
        </p:spPr>
        <p:txBody>
          <a:bodyPr anchor="t" rtlCol="false" tIns="0" lIns="0" bIns="0" rIns="0">
            <a:spAutoFit/>
          </a:bodyPr>
          <a:lstStyle/>
          <a:p>
            <a:pPr algn="l">
              <a:lnSpc>
                <a:spcPts val="2800"/>
              </a:lnSpc>
            </a:pPr>
            <a:r>
              <a:rPr lang="en-US" b="true" sz="2000" spc="-152">
                <a:solidFill>
                  <a:srgbClr val="FFFFFF"/>
                </a:solidFill>
                <a:latin typeface="Open Sauce Bold"/>
                <a:ea typeface="Open Sauce Bold"/>
                <a:cs typeface="Open Sauce Bold"/>
                <a:sym typeface="Open Sauce Bold"/>
              </a:rPr>
              <a:t>Larana University</a:t>
            </a:r>
          </a:p>
        </p:txBody>
      </p:sp>
      <p:sp>
        <p:nvSpPr>
          <p:cNvPr name="TextBox 8" id="8"/>
          <p:cNvSpPr txBox="true"/>
          <p:nvPr/>
        </p:nvSpPr>
        <p:spPr>
          <a:xfrm rot="0">
            <a:off x="14281305" y="646430"/>
            <a:ext cx="2977995" cy="382270"/>
          </a:xfrm>
          <a:prstGeom prst="rect">
            <a:avLst/>
          </a:prstGeom>
        </p:spPr>
        <p:txBody>
          <a:bodyPr anchor="t" rtlCol="false" tIns="0" lIns="0" bIns="0" rIns="0">
            <a:spAutoFit/>
          </a:bodyPr>
          <a:lstStyle/>
          <a:p>
            <a:pPr algn="r">
              <a:lnSpc>
                <a:spcPts val="3079"/>
              </a:lnSpc>
            </a:pPr>
            <a:r>
              <a:rPr lang="en-US" sz="2199" spc="-180">
                <a:solidFill>
                  <a:srgbClr val="FFFFFF"/>
                </a:solidFill>
                <a:latin typeface="DM Sans"/>
                <a:ea typeface="DM Sans"/>
                <a:cs typeface="DM Sans"/>
                <a:sym typeface="DM Sans"/>
              </a:rPr>
              <a:t>December 13, 2027</a:t>
            </a:r>
          </a:p>
        </p:txBody>
      </p:sp>
      <p:grpSp>
        <p:nvGrpSpPr>
          <p:cNvPr name="Group 9" id="9"/>
          <p:cNvGrpSpPr/>
          <p:nvPr/>
        </p:nvGrpSpPr>
        <p:grpSpPr>
          <a:xfrm rot="0">
            <a:off x="1028700" y="2100909"/>
            <a:ext cx="6520309" cy="7157391"/>
            <a:chOff x="0" y="0"/>
            <a:chExt cx="1913561" cy="2100529"/>
          </a:xfrm>
        </p:grpSpPr>
        <p:sp>
          <p:nvSpPr>
            <p:cNvPr name="Freeform 10" id="10"/>
            <p:cNvSpPr/>
            <p:nvPr/>
          </p:nvSpPr>
          <p:spPr>
            <a:xfrm flipH="false" flipV="false" rot="0">
              <a:off x="0" y="0"/>
              <a:ext cx="1913561" cy="2100529"/>
            </a:xfrm>
            <a:custGeom>
              <a:avLst/>
              <a:gdLst/>
              <a:ahLst/>
              <a:cxnLst/>
              <a:rect r="r" b="b" t="t" l="l"/>
              <a:pathLst>
                <a:path h="2100529" w="1913561">
                  <a:moveTo>
                    <a:pt x="71241" y="0"/>
                  </a:moveTo>
                  <a:lnTo>
                    <a:pt x="1842319" y="0"/>
                  </a:lnTo>
                  <a:cubicBezTo>
                    <a:pt x="1861214" y="0"/>
                    <a:pt x="1879334" y="7506"/>
                    <a:pt x="1892694" y="20866"/>
                  </a:cubicBezTo>
                  <a:cubicBezTo>
                    <a:pt x="1906055" y="34226"/>
                    <a:pt x="1913561" y="52347"/>
                    <a:pt x="1913561" y="71241"/>
                  </a:cubicBezTo>
                  <a:lnTo>
                    <a:pt x="1913561" y="2029288"/>
                  </a:lnTo>
                  <a:cubicBezTo>
                    <a:pt x="1913561" y="2068634"/>
                    <a:pt x="1881665" y="2100529"/>
                    <a:pt x="1842319" y="2100529"/>
                  </a:cubicBezTo>
                  <a:lnTo>
                    <a:pt x="71241" y="2100529"/>
                  </a:lnTo>
                  <a:cubicBezTo>
                    <a:pt x="52347" y="2100529"/>
                    <a:pt x="34226" y="2093024"/>
                    <a:pt x="20866" y="2079663"/>
                  </a:cubicBezTo>
                  <a:cubicBezTo>
                    <a:pt x="7506" y="2066303"/>
                    <a:pt x="0" y="2048182"/>
                    <a:pt x="0" y="2029288"/>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1" id="11"/>
            <p:cNvSpPr txBox="true"/>
            <p:nvPr/>
          </p:nvSpPr>
          <p:spPr>
            <a:xfrm>
              <a:off x="0" y="-38100"/>
              <a:ext cx="1913561" cy="213862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4266625"/>
            <a:ext cx="6520309" cy="4991675"/>
            <a:chOff x="0" y="0"/>
            <a:chExt cx="1913561" cy="1464942"/>
          </a:xfrm>
        </p:grpSpPr>
        <p:sp>
          <p:nvSpPr>
            <p:cNvPr name="Freeform 13" id="13"/>
            <p:cNvSpPr/>
            <p:nvPr/>
          </p:nvSpPr>
          <p:spPr>
            <a:xfrm flipH="false" flipV="false" rot="0">
              <a:off x="0" y="0"/>
              <a:ext cx="1913561" cy="1464942"/>
            </a:xfrm>
            <a:custGeom>
              <a:avLst/>
              <a:gdLst/>
              <a:ahLst/>
              <a:cxnLst/>
              <a:rect r="r" b="b" t="t" l="l"/>
              <a:pathLst>
                <a:path h="1464942" w="1913561">
                  <a:moveTo>
                    <a:pt x="71241" y="0"/>
                  </a:moveTo>
                  <a:lnTo>
                    <a:pt x="1842319" y="0"/>
                  </a:lnTo>
                  <a:cubicBezTo>
                    <a:pt x="1861214" y="0"/>
                    <a:pt x="1879334" y="7506"/>
                    <a:pt x="1892694" y="20866"/>
                  </a:cubicBezTo>
                  <a:cubicBezTo>
                    <a:pt x="1906055" y="34226"/>
                    <a:pt x="1913561" y="52347"/>
                    <a:pt x="1913561" y="71241"/>
                  </a:cubicBezTo>
                  <a:lnTo>
                    <a:pt x="1913561" y="1393700"/>
                  </a:lnTo>
                  <a:cubicBezTo>
                    <a:pt x="1913561" y="1433046"/>
                    <a:pt x="1881665" y="1464942"/>
                    <a:pt x="1842319" y="1464942"/>
                  </a:cubicBezTo>
                  <a:lnTo>
                    <a:pt x="71241" y="1464942"/>
                  </a:lnTo>
                  <a:cubicBezTo>
                    <a:pt x="52347" y="1464942"/>
                    <a:pt x="34226" y="1457436"/>
                    <a:pt x="20866" y="1444076"/>
                  </a:cubicBezTo>
                  <a:cubicBezTo>
                    <a:pt x="7506" y="1430715"/>
                    <a:pt x="0" y="1412595"/>
                    <a:pt x="0" y="1393700"/>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4" id="14"/>
            <p:cNvSpPr txBox="true"/>
            <p:nvPr/>
          </p:nvSpPr>
          <p:spPr>
            <a:xfrm>
              <a:off x="0" y="-38100"/>
              <a:ext cx="1913561" cy="150304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28700" y="4114638"/>
            <a:ext cx="4736837" cy="1028862"/>
            <a:chOff x="0" y="0"/>
            <a:chExt cx="1390153" cy="301947"/>
          </a:xfrm>
        </p:grpSpPr>
        <p:sp>
          <p:nvSpPr>
            <p:cNvPr name="Freeform 16" id="16"/>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7" id="17"/>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28700" y="1716062"/>
            <a:ext cx="4736837" cy="1028862"/>
            <a:chOff x="0" y="0"/>
            <a:chExt cx="1390153" cy="301947"/>
          </a:xfrm>
        </p:grpSpPr>
        <p:sp>
          <p:nvSpPr>
            <p:cNvPr name="Freeform 19" id="19"/>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20" id="20"/>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267428" y="5334000"/>
            <a:ext cx="5738830" cy="1211199"/>
          </a:xfrm>
          <a:prstGeom prst="rect">
            <a:avLst/>
          </a:prstGeom>
        </p:spPr>
        <p:txBody>
          <a:bodyPr anchor="t" rtlCol="false" tIns="0" lIns="0" bIns="0" rIns="0">
            <a:spAutoFit/>
          </a:bodyPr>
          <a:lstStyle/>
          <a:p>
            <a:pPr algn="l">
              <a:lnSpc>
                <a:spcPts val="2448"/>
              </a:lnSpc>
            </a:pPr>
            <a:r>
              <a:rPr lang="en-US" sz="1800" spc="-44">
                <a:solidFill>
                  <a:srgbClr val="FFFFFF"/>
                </a:solidFill>
                <a:latin typeface="DM Sans"/>
                <a:ea typeface="DM Sans"/>
                <a:cs typeface="DM Sans"/>
                <a:sym typeface="DM Sans"/>
              </a:rPr>
              <a:t>To </a:t>
            </a:r>
            <a:r>
              <a:rPr lang="en-US" sz="1800" spc="-44">
                <a:solidFill>
                  <a:srgbClr val="FFFFFF"/>
                </a:solidFill>
                <a:latin typeface="DM Sans"/>
                <a:ea typeface="DM Sans"/>
                <a:cs typeface="DM Sans"/>
                <a:sym typeface="DM Sans"/>
              </a:rPr>
              <a:t>enhance students’ awareness of their spending habits by allowing them to regularly review their transactions and observe patterns in their expenditures.</a:t>
            </a:r>
          </a:p>
          <a:p>
            <a:pPr algn="l">
              <a:lnSpc>
                <a:spcPts val="2448"/>
              </a:lnSpc>
            </a:pPr>
          </a:p>
        </p:txBody>
      </p:sp>
      <p:sp>
        <p:nvSpPr>
          <p:cNvPr name="TextBox 22" id="22"/>
          <p:cNvSpPr txBox="true"/>
          <p:nvPr/>
        </p:nvSpPr>
        <p:spPr>
          <a:xfrm rot="0">
            <a:off x="1267428" y="2936502"/>
            <a:ext cx="5738830" cy="1515999"/>
          </a:xfrm>
          <a:prstGeom prst="rect">
            <a:avLst/>
          </a:prstGeom>
        </p:spPr>
        <p:txBody>
          <a:bodyPr anchor="t" rtlCol="false" tIns="0" lIns="0" bIns="0" rIns="0">
            <a:spAutoFit/>
          </a:bodyPr>
          <a:lstStyle/>
          <a:p>
            <a:pPr algn="l">
              <a:lnSpc>
                <a:spcPts val="2448"/>
              </a:lnSpc>
            </a:pPr>
            <a:r>
              <a:rPr lang="en-US" sz="1800" spc="-44">
                <a:solidFill>
                  <a:srgbClr val="FFFFFF"/>
                </a:solidFill>
                <a:latin typeface="DM Sans"/>
                <a:ea typeface="DM Sans"/>
                <a:cs typeface="DM Sans"/>
                <a:sym typeface="DM Sans"/>
              </a:rPr>
              <a:t>To h</a:t>
            </a:r>
            <a:r>
              <a:rPr lang="en-US" sz="1800" spc="-44">
                <a:solidFill>
                  <a:srgbClr val="FFFFFF"/>
                </a:solidFill>
                <a:latin typeface="DM Sans"/>
                <a:ea typeface="DM Sans"/>
                <a:cs typeface="DM Sans"/>
                <a:sym typeface="DM Sans"/>
              </a:rPr>
              <a:t>elp students improve their budgeting practices by providing a structured system for recording and monitoring their daily expenses over a weekly period.</a:t>
            </a:r>
          </a:p>
          <a:p>
            <a:pPr algn="l">
              <a:lnSpc>
                <a:spcPts val="2448"/>
              </a:lnSpc>
            </a:pPr>
          </a:p>
          <a:p>
            <a:pPr algn="l">
              <a:lnSpc>
                <a:spcPts val="2448"/>
              </a:lnSpc>
            </a:pPr>
          </a:p>
        </p:txBody>
      </p:sp>
      <p:sp>
        <p:nvSpPr>
          <p:cNvPr name="TextBox 23" id="23"/>
          <p:cNvSpPr txBox="true"/>
          <p:nvPr/>
        </p:nvSpPr>
        <p:spPr>
          <a:xfrm rot="0">
            <a:off x="1506156" y="4299481"/>
            <a:ext cx="3643441" cy="592501"/>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O</a:t>
            </a:r>
            <a:r>
              <a:rPr lang="en-US" b="true" sz="3471" spc="-111">
                <a:solidFill>
                  <a:srgbClr val="FFFFFF"/>
                </a:solidFill>
                <a:latin typeface="Now Bold"/>
                <a:ea typeface="Now Bold"/>
                <a:cs typeface="Now Bold"/>
                <a:sym typeface="Now Bold"/>
              </a:rPr>
              <a:t>bjective 02</a:t>
            </a:r>
          </a:p>
        </p:txBody>
      </p:sp>
      <p:sp>
        <p:nvSpPr>
          <p:cNvPr name="TextBox 24" id="24"/>
          <p:cNvSpPr txBox="true"/>
          <p:nvPr/>
        </p:nvSpPr>
        <p:spPr>
          <a:xfrm rot="0">
            <a:off x="1464849" y="1900904"/>
            <a:ext cx="3643441" cy="592501"/>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O</a:t>
            </a:r>
            <a:r>
              <a:rPr lang="en-US" b="true" sz="3471" spc="-111">
                <a:solidFill>
                  <a:srgbClr val="FFFFFF"/>
                </a:solidFill>
                <a:latin typeface="Now Bold"/>
                <a:ea typeface="Now Bold"/>
                <a:cs typeface="Now Bold"/>
                <a:sym typeface="Now Bold"/>
              </a:rPr>
              <a:t>bjective 01</a:t>
            </a:r>
          </a:p>
        </p:txBody>
      </p:sp>
      <p:sp>
        <p:nvSpPr>
          <p:cNvPr name="TextBox 25" id="25"/>
          <p:cNvSpPr txBox="true"/>
          <p:nvPr/>
        </p:nvSpPr>
        <p:spPr>
          <a:xfrm rot="0">
            <a:off x="8860709" y="3476887"/>
            <a:ext cx="6543663" cy="2054860"/>
          </a:xfrm>
          <a:prstGeom prst="rect">
            <a:avLst/>
          </a:prstGeom>
        </p:spPr>
        <p:txBody>
          <a:bodyPr anchor="t" rtlCol="false" tIns="0" lIns="0" bIns="0" rIns="0">
            <a:spAutoFit/>
          </a:bodyPr>
          <a:lstStyle/>
          <a:p>
            <a:pPr algn="l">
              <a:lnSpc>
                <a:spcPts val="2719"/>
              </a:lnSpc>
            </a:pPr>
            <a:r>
              <a:rPr lang="en-US" sz="1999" spc="-49">
                <a:solidFill>
                  <a:srgbClr val="FFFFFF"/>
                </a:solidFill>
                <a:latin typeface="DM Sans"/>
                <a:ea typeface="DM Sans"/>
                <a:cs typeface="DM Sans"/>
                <a:sym typeface="DM Sans"/>
              </a:rPr>
              <a:t>The primary objective of the program, Budget Tracker, is to develop a simple and functional Budget Tracker that assists Philippine Science High School (Pisay) scholars in managing their weekly allowances more effectively.</a:t>
            </a:r>
          </a:p>
          <a:p>
            <a:pPr algn="l">
              <a:lnSpc>
                <a:spcPts val="2719"/>
              </a:lnSpc>
            </a:pPr>
          </a:p>
          <a:p>
            <a:pPr algn="l">
              <a:lnSpc>
                <a:spcPts val="2719"/>
              </a:lnSpc>
            </a:pPr>
          </a:p>
        </p:txBody>
      </p:sp>
      <p:sp>
        <p:nvSpPr>
          <p:cNvPr name="Freeform 26" id="26"/>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7" id="27"/>
          <p:cNvGrpSpPr/>
          <p:nvPr/>
        </p:nvGrpSpPr>
        <p:grpSpPr>
          <a:xfrm rot="0">
            <a:off x="1028700" y="6380635"/>
            <a:ext cx="6520309" cy="2877665"/>
            <a:chOff x="0" y="0"/>
            <a:chExt cx="1913561" cy="844528"/>
          </a:xfrm>
        </p:grpSpPr>
        <p:sp>
          <p:nvSpPr>
            <p:cNvPr name="Freeform 28" id="28"/>
            <p:cNvSpPr/>
            <p:nvPr/>
          </p:nvSpPr>
          <p:spPr>
            <a:xfrm flipH="false" flipV="false" rot="0">
              <a:off x="0" y="0"/>
              <a:ext cx="1913561" cy="844528"/>
            </a:xfrm>
            <a:custGeom>
              <a:avLst/>
              <a:gdLst/>
              <a:ahLst/>
              <a:cxnLst/>
              <a:rect r="r" b="b" t="t" l="l"/>
              <a:pathLst>
                <a:path h="844528" w="1913561">
                  <a:moveTo>
                    <a:pt x="71241" y="0"/>
                  </a:moveTo>
                  <a:lnTo>
                    <a:pt x="1842319" y="0"/>
                  </a:lnTo>
                  <a:cubicBezTo>
                    <a:pt x="1861214" y="0"/>
                    <a:pt x="1879334" y="7506"/>
                    <a:pt x="1892694" y="20866"/>
                  </a:cubicBezTo>
                  <a:cubicBezTo>
                    <a:pt x="1906055" y="34226"/>
                    <a:pt x="1913561" y="52347"/>
                    <a:pt x="1913561" y="71241"/>
                  </a:cubicBezTo>
                  <a:lnTo>
                    <a:pt x="1913561" y="773287"/>
                  </a:lnTo>
                  <a:cubicBezTo>
                    <a:pt x="1913561" y="792181"/>
                    <a:pt x="1906055" y="810302"/>
                    <a:pt x="1892694" y="823662"/>
                  </a:cubicBezTo>
                  <a:cubicBezTo>
                    <a:pt x="1879334" y="837023"/>
                    <a:pt x="1861214" y="844528"/>
                    <a:pt x="1842319" y="844528"/>
                  </a:cubicBezTo>
                  <a:lnTo>
                    <a:pt x="71241" y="844528"/>
                  </a:lnTo>
                  <a:cubicBezTo>
                    <a:pt x="52347" y="844528"/>
                    <a:pt x="34226" y="837023"/>
                    <a:pt x="20866" y="823662"/>
                  </a:cubicBezTo>
                  <a:cubicBezTo>
                    <a:pt x="7506" y="810302"/>
                    <a:pt x="0" y="792181"/>
                    <a:pt x="0" y="773287"/>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29" id="29"/>
            <p:cNvSpPr txBox="true"/>
            <p:nvPr/>
          </p:nvSpPr>
          <p:spPr>
            <a:xfrm>
              <a:off x="0" y="-38100"/>
              <a:ext cx="1913561" cy="882628"/>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28700" y="6380635"/>
            <a:ext cx="4736837" cy="1028862"/>
            <a:chOff x="0" y="0"/>
            <a:chExt cx="1390153" cy="301947"/>
          </a:xfrm>
        </p:grpSpPr>
        <p:sp>
          <p:nvSpPr>
            <p:cNvPr name="Freeform 31" id="31"/>
            <p:cNvSpPr/>
            <p:nvPr/>
          </p:nvSpPr>
          <p:spPr>
            <a:xfrm flipH="false" flipV="false" rot="0">
              <a:off x="0" y="0"/>
              <a:ext cx="1390153" cy="301947"/>
            </a:xfrm>
            <a:custGeom>
              <a:avLst/>
              <a:gdLst/>
              <a:ahLst/>
              <a:cxnLst/>
              <a:rect r="r" b="b" t="t" l="l"/>
              <a:pathLst>
                <a:path h="301947" w="1390153">
                  <a:moveTo>
                    <a:pt x="98064" y="0"/>
                  </a:moveTo>
                  <a:lnTo>
                    <a:pt x="1292088" y="0"/>
                  </a:lnTo>
                  <a:cubicBezTo>
                    <a:pt x="1346248" y="0"/>
                    <a:pt x="1390153" y="43905"/>
                    <a:pt x="1390153" y="98064"/>
                  </a:cubicBezTo>
                  <a:lnTo>
                    <a:pt x="1390153" y="203883"/>
                  </a:lnTo>
                  <a:cubicBezTo>
                    <a:pt x="1390153" y="258042"/>
                    <a:pt x="1346248" y="301947"/>
                    <a:pt x="1292088" y="301947"/>
                  </a:cubicBezTo>
                  <a:lnTo>
                    <a:pt x="98064" y="301947"/>
                  </a:lnTo>
                  <a:cubicBezTo>
                    <a:pt x="43905" y="301947"/>
                    <a:pt x="0" y="258042"/>
                    <a:pt x="0" y="203883"/>
                  </a:cubicBezTo>
                  <a:lnTo>
                    <a:pt x="0" y="98064"/>
                  </a:lnTo>
                  <a:cubicBezTo>
                    <a:pt x="0" y="43905"/>
                    <a:pt x="43905" y="0"/>
                    <a:pt x="98064"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32" id="32"/>
            <p:cNvSpPr txBox="true"/>
            <p:nvPr/>
          </p:nvSpPr>
          <p:spPr>
            <a:xfrm>
              <a:off x="0" y="-38100"/>
              <a:ext cx="1390153" cy="340047"/>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1464849" y="6565478"/>
            <a:ext cx="3643441" cy="592501"/>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Objective 03</a:t>
            </a:r>
          </a:p>
        </p:txBody>
      </p:sp>
      <p:sp>
        <p:nvSpPr>
          <p:cNvPr name="TextBox 34" id="34"/>
          <p:cNvSpPr txBox="true"/>
          <p:nvPr/>
        </p:nvSpPr>
        <p:spPr>
          <a:xfrm rot="0">
            <a:off x="1267428" y="7599997"/>
            <a:ext cx="5738830" cy="1515999"/>
          </a:xfrm>
          <a:prstGeom prst="rect">
            <a:avLst/>
          </a:prstGeom>
        </p:spPr>
        <p:txBody>
          <a:bodyPr anchor="t" rtlCol="false" tIns="0" lIns="0" bIns="0" rIns="0">
            <a:spAutoFit/>
          </a:bodyPr>
          <a:lstStyle/>
          <a:p>
            <a:pPr algn="l">
              <a:lnSpc>
                <a:spcPts val="2448"/>
              </a:lnSpc>
            </a:pPr>
            <a:r>
              <a:rPr lang="en-US" sz="1800" spc="-44">
                <a:solidFill>
                  <a:srgbClr val="FFFFFF"/>
                </a:solidFill>
                <a:latin typeface="DM Sans"/>
                <a:ea typeface="DM Sans"/>
                <a:cs typeface="DM Sans"/>
                <a:sym typeface="DM Sans"/>
              </a:rPr>
              <a:t>To encourage responsible financial behavior, such as prioritizing needs over wants and maintaining control over limited financial resources, through consistent use of the system during the testing period.</a:t>
            </a:r>
          </a:p>
          <a:p>
            <a:pPr algn="l">
              <a:lnSpc>
                <a:spcPts val="2448"/>
              </a:lnSpc>
            </a:pPr>
          </a:p>
        </p:txBody>
      </p:sp>
      <p:grpSp>
        <p:nvGrpSpPr>
          <p:cNvPr name="Group 35" id="35"/>
          <p:cNvGrpSpPr/>
          <p:nvPr/>
        </p:nvGrpSpPr>
        <p:grpSpPr>
          <a:xfrm rot="-5400000">
            <a:off x="8284926" y="5113603"/>
            <a:ext cx="8559122" cy="9395411"/>
            <a:chOff x="0" y="0"/>
            <a:chExt cx="11412162" cy="12527214"/>
          </a:xfrm>
        </p:grpSpPr>
        <p:grpSp>
          <p:nvGrpSpPr>
            <p:cNvPr name="Group 36" id="36"/>
            <p:cNvGrpSpPr/>
            <p:nvPr/>
          </p:nvGrpSpPr>
          <p:grpSpPr>
            <a:xfrm rot="0">
              <a:off x="0" y="0"/>
              <a:ext cx="11412162" cy="12527214"/>
              <a:chOff x="0" y="0"/>
              <a:chExt cx="1913561" cy="2100529"/>
            </a:xfrm>
          </p:grpSpPr>
          <p:sp>
            <p:nvSpPr>
              <p:cNvPr name="Freeform 37" id="37"/>
              <p:cNvSpPr/>
              <p:nvPr/>
            </p:nvSpPr>
            <p:spPr>
              <a:xfrm flipH="false" flipV="false" rot="0">
                <a:off x="0" y="0"/>
                <a:ext cx="1913561" cy="2100529"/>
              </a:xfrm>
              <a:custGeom>
                <a:avLst/>
                <a:gdLst/>
                <a:ahLst/>
                <a:cxnLst/>
                <a:rect r="r" b="b" t="t" l="l"/>
                <a:pathLst>
                  <a:path h="2100529" w="1913561">
                    <a:moveTo>
                      <a:pt x="71241" y="0"/>
                    </a:moveTo>
                    <a:lnTo>
                      <a:pt x="1842319" y="0"/>
                    </a:lnTo>
                    <a:cubicBezTo>
                      <a:pt x="1861214" y="0"/>
                      <a:pt x="1879334" y="7506"/>
                      <a:pt x="1892694" y="20866"/>
                    </a:cubicBezTo>
                    <a:cubicBezTo>
                      <a:pt x="1906055" y="34226"/>
                      <a:pt x="1913561" y="52347"/>
                      <a:pt x="1913561" y="71241"/>
                    </a:cubicBezTo>
                    <a:lnTo>
                      <a:pt x="1913561" y="2029288"/>
                    </a:lnTo>
                    <a:cubicBezTo>
                      <a:pt x="1913561" y="2068634"/>
                      <a:pt x="1881665" y="2100529"/>
                      <a:pt x="1842319" y="2100529"/>
                    </a:cubicBezTo>
                    <a:lnTo>
                      <a:pt x="71241" y="2100529"/>
                    </a:lnTo>
                    <a:cubicBezTo>
                      <a:pt x="52347" y="2100529"/>
                      <a:pt x="34226" y="2093024"/>
                      <a:pt x="20866" y="2079663"/>
                    </a:cubicBezTo>
                    <a:cubicBezTo>
                      <a:pt x="7506" y="2066303"/>
                      <a:pt x="0" y="2048182"/>
                      <a:pt x="0" y="2029288"/>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38" id="38"/>
              <p:cNvSpPr txBox="true"/>
              <p:nvPr/>
            </p:nvSpPr>
            <p:spPr>
              <a:xfrm>
                <a:off x="0" y="-38100"/>
                <a:ext cx="1913561" cy="2138629"/>
              </a:xfrm>
              <a:prstGeom prst="rect">
                <a:avLst/>
              </a:prstGeom>
            </p:spPr>
            <p:txBody>
              <a:bodyPr anchor="ctr" rtlCol="false" tIns="50800" lIns="50800" bIns="50800" rIns="50800"/>
              <a:lstStyle/>
              <a:p>
                <a:pPr algn="ctr">
                  <a:lnSpc>
                    <a:spcPts val="2660"/>
                  </a:lnSpc>
                </a:pPr>
              </a:p>
            </p:txBody>
          </p:sp>
        </p:grpSp>
        <p:grpSp>
          <p:nvGrpSpPr>
            <p:cNvPr name="Group 39" id="39"/>
            <p:cNvGrpSpPr/>
            <p:nvPr/>
          </p:nvGrpSpPr>
          <p:grpSpPr>
            <a:xfrm rot="0">
              <a:off x="0" y="3790541"/>
              <a:ext cx="11412162" cy="8736673"/>
              <a:chOff x="0" y="0"/>
              <a:chExt cx="1913561" cy="1464942"/>
            </a:xfrm>
          </p:grpSpPr>
          <p:sp>
            <p:nvSpPr>
              <p:cNvPr name="Freeform 40" id="40"/>
              <p:cNvSpPr/>
              <p:nvPr/>
            </p:nvSpPr>
            <p:spPr>
              <a:xfrm flipH="false" flipV="false" rot="0">
                <a:off x="0" y="0"/>
                <a:ext cx="1913561" cy="1464942"/>
              </a:xfrm>
              <a:custGeom>
                <a:avLst/>
                <a:gdLst/>
                <a:ahLst/>
                <a:cxnLst/>
                <a:rect r="r" b="b" t="t" l="l"/>
                <a:pathLst>
                  <a:path h="1464942" w="1913561">
                    <a:moveTo>
                      <a:pt x="71241" y="0"/>
                    </a:moveTo>
                    <a:lnTo>
                      <a:pt x="1842319" y="0"/>
                    </a:lnTo>
                    <a:cubicBezTo>
                      <a:pt x="1861214" y="0"/>
                      <a:pt x="1879334" y="7506"/>
                      <a:pt x="1892694" y="20866"/>
                    </a:cubicBezTo>
                    <a:cubicBezTo>
                      <a:pt x="1906055" y="34226"/>
                      <a:pt x="1913561" y="52347"/>
                      <a:pt x="1913561" y="71241"/>
                    </a:cubicBezTo>
                    <a:lnTo>
                      <a:pt x="1913561" y="1393700"/>
                    </a:lnTo>
                    <a:cubicBezTo>
                      <a:pt x="1913561" y="1433046"/>
                      <a:pt x="1881665" y="1464942"/>
                      <a:pt x="1842319" y="1464942"/>
                    </a:cubicBezTo>
                    <a:lnTo>
                      <a:pt x="71241" y="1464942"/>
                    </a:lnTo>
                    <a:cubicBezTo>
                      <a:pt x="52347" y="1464942"/>
                      <a:pt x="34226" y="1457436"/>
                      <a:pt x="20866" y="1444076"/>
                    </a:cubicBezTo>
                    <a:cubicBezTo>
                      <a:pt x="7506" y="1430715"/>
                      <a:pt x="0" y="1412595"/>
                      <a:pt x="0" y="1393700"/>
                    </a:cubicBezTo>
                    <a:lnTo>
                      <a:pt x="0" y="71241"/>
                    </a:lnTo>
                    <a:cubicBezTo>
                      <a:pt x="0" y="52347"/>
                      <a:pt x="7506" y="34226"/>
                      <a:pt x="20866" y="20866"/>
                    </a:cubicBezTo>
                    <a:cubicBezTo>
                      <a:pt x="34226" y="7506"/>
                      <a:pt x="52347" y="0"/>
                      <a:pt x="71241" y="0"/>
                    </a:cubicBezTo>
                    <a:close/>
                  </a:path>
                </a:pathLst>
              </a:custGeom>
              <a:solidFill>
                <a:srgbClr val="3D678B"/>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1" id="41"/>
              <p:cNvSpPr txBox="true"/>
              <p:nvPr/>
            </p:nvSpPr>
            <p:spPr>
              <a:xfrm>
                <a:off x="0" y="-38100"/>
                <a:ext cx="1913561" cy="1503042"/>
              </a:xfrm>
              <a:prstGeom prst="rect">
                <a:avLst/>
              </a:prstGeom>
            </p:spPr>
            <p:txBody>
              <a:bodyPr anchor="ctr" rtlCol="false" tIns="50800" lIns="50800" bIns="50800" rIns="50800"/>
              <a:lstStyle/>
              <a:p>
                <a:pPr algn="ctr">
                  <a:lnSpc>
                    <a:spcPts val="2660"/>
                  </a:lnSpc>
                </a:pPr>
              </a:p>
            </p:txBody>
          </p:sp>
        </p:grpSp>
        <p:grpSp>
          <p:nvGrpSpPr>
            <p:cNvPr name="Group 42" id="42"/>
            <p:cNvGrpSpPr/>
            <p:nvPr/>
          </p:nvGrpSpPr>
          <p:grpSpPr>
            <a:xfrm rot="0">
              <a:off x="0" y="7736307"/>
              <a:ext cx="11412162" cy="4790907"/>
              <a:chOff x="0" y="0"/>
              <a:chExt cx="1913561" cy="803326"/>
            </a:xfrm>
          </p:grpSpPr>
          <p:sp>
            <p:nvSpPr>
              <p:cNvPr name="Freeform 43" id="43"/>
              <p:cNvSpPr/>
              <p:nvPr/>
            </p:nvSpPr>
            <p:spPr>
              <a:xfrm flipH="false" flipV="false" rot="0">
                <a:off x="0" y="0"/>
                <a:ext cx="1913561" cy="803326"/>
              </a:xfrm>
              <a:custGeom>
                <a:avLst/>
                <a:gdLst/>
                <a:ahLst/>
                <a:cxnLst/>
                <a:rect r="r" b="b" t="t" l="l"/>
                <a:pathLst>
                  <a:path h="803326" w="1913561">
                    <a:moveTo>
                      <a:pt x="71241" y="0"/>
                    </a:moveTo>
                    <a:lnTo>
                      <a:pt x="1842319" y="0"/>
                    </a:lnTo>
                    <a:cubicBezTo>
                      <a:pt x="1861214" y="0"/>
                      <a:pt x="1879334" y="7506"/>
                      <a:pt x="1892694" y="20866"/>
                    </a:cubicBezTo>
                    <a:cubicBezTo>
                      <a:pt x="1906055" y="34226"/>
                      <a:pt x="1913561" y="52347"/>
                      <a:pt x="1913561" y="71241"/>
                    </a:cubicBezTo>
                    <a:lnTo>
                      <a:pt x="1913561" y="732085"/>
                    </a:lnTo>
                    <a:cubicBezTo>
                      <a:pt x="1913561" y="771431"/>
                      <a:pt x="1881665" y="803326"/>
                      <a:pt x="1842319" y="803326"/>
                    </a:cubicBezTo>
                    <a:lnTo>
                      <a:pt x="71241" y="803326"/>
                    </a:lnTo>
                    <a:cubicBezTo>
                      <a:pt x="52347" y="803326"/>
                      <a:pt x="34226" y="795821"/>
                      <a:pt x="20866" y="782460"/>
                    </a:cubicBezTo>
                    <a:cubicBezTo>
                      <a:pt x="7506" y="769100"/>
                      <a:pt x="0" y="750980"/>
                      <a:pt x="0" y="732085"/>
                    </a:cubicBezTo>
                    <a:lnTo>
                      <a:pt x="0" y="71241"/>
                    </a:lnTo>
                    <a:cubicBezTo>
                      <a:pt x="0" y="52347"/>
                      <a:pt x="7506" y="34226"/>
                      <a:pt x="20866" y="20866"/>
                    </a:cubicBezTo>
                    <a:cubicBezTo>
                      <a:pt x="34226" y="7506"/>
                      <a:pt x="52347" y="0"/>
                      <a:pt x="71241" y="0"/>
                    </a:cubicBezTo>
                    <a:close/>
                  </a:path>
                </a:pathLst>
              </a:custGeom>
              <a:gradFill rotWithShape="true">
                <a:gsLst>
                  <a:gs pos="0">
                    <a:srgbClr val="FFFFFF">
                      <a:alpha val="30000"/>
                    </a:srgbClr>
                  </a:gs>
                  <a:gs pos="50000">
                    <a:srgbClr val="FFFFFF">
                      <a:alpha val="10000"/>
                    </a:srgbClr>
                  </a:gs>
                  <a:gs pos="100000">
                    <a:srgbClr val="FFFFFF">
                      <a:alpha val="30000"/>
                    </a:srgbClr>
                  </a:gs>
                </a:gsLst>
                <a:lin ang="0"/>
              </a:gra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4" id="44"/>
              <p:cNvSpPr txBox="true"/>
              <p:nvPr/>
            </p:nvSpPr>
            <p:spPr>
              <a:xfrm>
                <a:off x="0" y="-38100"/>
                <a:ext cx="1913561" cy="841426"/>
              </a:xfrm>
              <a:prstGeom prst="rect">
                <a:avLst/>
              </a:prstGeom>
            </p:spPr>
            <p:txBody>
              <a:bodyPr anchor="ctr" rtlCol="false" tIns="50800" lIns="50800" bIns="50800" rIns="50800"/>
              <a:lstStyle/>
              <a:p>
                <a:pPr algn="ctr">
                  <a:lnSpc>
                    <a:spcPts val="2660"/>
                  </a:lnSpc>
                </a:pPr>
              </a:p>
            </p:txBody>
          </p:sp>
        </p:grpSp>
      </p:grpSp>
      <p:grpSp>
        <p:nvGrpSpPr>
          <p:cNvPr name="Group 45" id="45"/>
          <p:cNvGrpSpPr/>
          <p:nvPr/>
        </p:nvGrpSpPr>
        <p:grpSpPr>
          <a:xfrm rot="0">
            <a:off x="7775332" y="5428097"/>
            <a:ext cx="2737336" cy="597935"/>
            <a:chOff x="0" y="0"/>
            <a:chExt cx="803345" cy="175480"/>
          </a:xfrm>
        </p:grpSpPr>
        <p:sp>
          <p:nvSpPr>
            <p:cNvPr name="Freeform 46" id="46"/>
            <p:cNvSpPr/>
            <p:nvPr/>
          </p:nvSpPr>
          <p:spPr>
            <a:xfrm flipH="false" flipV="false" rot="0">
              <a:off x="0" y="0"/>
              <a:ext cx="803345" cy="175480"/>
            </a:xfrm>
            <a:custGeom>
              <a:avLst/>
              <a:gdLst/>
              <a:ahLst/>
              <a:cxnLst/>
              <a:rect r="r" b="b" t="t" l="l"/>
              <a:pathLst>
                <a:path h="175480" w="803345">
                  <a:moveTo>
                    <a:pt x="87740" y="0"/>
                  </a:moveTo>
                  <a:lnTo>
                    <a:pt x="715605" y="0"/>
                  </a:lnTo>
                  <a:cubicBezTo>
                    <a:pt x="764063" y="0"/>
                    <a:pt x="803345" y="39283"/>
                    <a:pt x="803345" y="87740"/>
                  </a:cubicBezTo>
                  <a:lnTo>
                    <a:pt x="803345" y="87740"/>
                  </a:lnTo>
                  <a:cubicBezTo>
                    <a:pt x="803345" y="111010"/>
                    <a:pt x="794101" y="133327"/>
                    <a:pt x="777647" y="149782"/>
                  </a:cubicBezTo>
                  <a:cubicBezTo>
                    <a:pt x="761192" y="166236"/>
                    <a:pt x="738875" y="175480"/>
                    <a:pt x="715605" y="175480"/>
                  </a:cubicBezTo>
                  <a:lnTo>
                    <a:pt x="87740" y="175480"/>
                  </a:lnTo>
                  <a:cubicBezTo>
                    <a:pt x="39283" y="175480"/>
                    <a:pt x="0" y="136198"/>
                    <a:pt x="0" y="87740"/>
                  </a:cubicBezTo>
                  <a:lnTo>
                    <a:pt x="0" y="87740"/>
                  </a:lnTo>
                  <a:cubicBezTo>
                    <a:pt x="0" y="39283"/>
                    <a:pt x="39283" y="0"/>
                    <a:pt x="87740"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7" id="47"/>
            <p:cNvSpPr txBox="true"/>
            <p:nvPr/>
          </p:nvSpPr>
          <p:spPr>
            <a:xfrm>
              <a:off x="0" y="-38100"/>
              <a:ext cx="803345" cy="21358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0616716" y="5428097"/>
            <a:ext cx="2737336" cy="597935"/>
            <a:chOff x="0" y="0"/>
            <a:chExt cx="803345" cy="175480"/>
          </a:xfrm>
        </p:grpSpPr>
        <p:sp>
          <p:nvSpPr>
            <p:cNvPr name="Freeform 49" id="49"/>
            <p:cNvSpPr/>
            <p:nvPr/>
          </p:nvSpPr>
          <p:spPr>
            <a:xfrm flipH="false" flipV="false" rot="0">
              <a:off x="0" y="0"/>
              <a:ext cx="803345" cy="175480"/>
            </a:xfrm>
            <a:custGeom>
              <a:avLst/>
              <a:gdLst/>
              <a:ahLst/>
              <a:cxnLst/>
              <a:rect r="r" b="b" t="t" l="l"/>
              <a:pathLst>
                <a:path h="175480" w="803345">
                  <a:moveTo>
                    <a:pt x="87740" y="0"/>
                  </a:moveTo>
                  <a:lnTo>
                    <a:pt x="715605" y="0"/>
                  </a:lnTo>
                  <a:cubicBezTo>
                    <a:pt x="764063" y="0"/>
                    <a:pt x="803345" y="39283"/>
                    <a:pt x="803345" y="87740"/>
                  </a:cubicBezTo>
                  <a:lnTo>
                    <a:pt x="803345" y="87740"/>
                  </a:lnTo>
                  <a:cubicBezTo>
                    <a:pt x="803345" y="111010"/>
                    <a:pt x="794101" y="133327"/>
                    <a:pt x="777647" y="149782"/>
                  </a:cubicBezTo>
                  <a:cubicBezTo>
                    <a:pt x="761192" y="166236"/>
                    <a:pt x="738875" y="175480"/>
                    <a:pt x="715605" y="175480"/>
                  </a:cubicBezTo>
                  <a:lnTo>
                    <a:pt x="87740" y="175480"/>
                  </a:lnTo>
                  <a:cubicBezTo>
                    <a:pt x="39283" y="175480"/>
                    <a:pt x="0" y="136198"/>
                    <a:pt x="0" y="87740"/>
                  </a:cubicBezTo>
                  <a:lnTo>
                    <a:pt x="0" y="87740"/>
                  </a:lnTo>
                  <a:cubicBezTo>
                    <a:pt x="0" y="39283"/>
                    <a:pt x="39283" y="0"/>
                    <a:pt x="87740"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50" id="50"/>
            <p:cNvSpPr txBox="true"/>
            <p:nvPr/>
          </p:nvSpPr>
          <p:spPr>
            <a:xfrm>
              <a:off x="0" y="-38100"/>
              <a:ext cx="803345" cy="21358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3458100" y="5428097"/>
            <a:ext cx="2737336" cy="597935"/>
            <a:chOff x="0" y="0"/>
            <a:chExt cx="803345" cy="175480"/>
          </a:xfrm>
        </p:grpSpPr>
        <p:sp>
          <p:nvSpPr>
            <p:cNvPr name="Freeform 52" id="52"/>
            <p:cNvSpPr/>
            <p:nvPr/>
          </p:nvSpPr>
          <p:spPr>
            <a:xfrm flipH="false" flipV="false" rot="0">
              <a:off x="0" y="0"/>
              <a:ext cx="803345" cy="175480"/>
            </a:xfrm>
            <a:custGeom>
              <a:avLst/>
              <a:gdLst/>
              <a:ahLst/>
              <a:cxnLst/>
              <a:rect r="r" b="b" t="t" l="l"/>
              <a:pathLst>
                <a:path h="175480" w="803345">
                  <a:moveTo>
                    <a:pt x="87740" y="0"/>
                  </a:moveTo>
                  <a:lnTo>
                    <a:pt x="715605" y="0"/>
                  </a:lnTo>
                  <a:cubicBezTo>
                    <a:pt x="764063" y="0"/>
                    <a:pt x="803345" y="39283"/>
                    <a:pt x="803345" y="87740"/>
                  </a:cubicBezTo>
                  <a:lnTo>
                    <a:pt x="803345" y="87740"/>
                  </a:lnTo>
                  <a:cubicBezTo>
                    <a:pt x="803345" y="111010"/>
                    <a:pt x="794101" y="133327"/>
                    <a:pt x="777647" y="149782"/>
                  </a:cubicBezTo>
                  <a:cubicBezTo>
                    <a:pt x="761192" y="166236"/>
                    <a:pt x="738875" y="175480"/>
                    <a:pt x="715605" y="175480"/>
                  </a:cubicBezTo>
                  <a:lnTo>
                    <a:pt x="87740" y="175480"/>
                  </a:lnTo>
                  <a:cubicBezTo>
                    <a:pt x="39283" y="175480"/>
                    <a:pt x="0" y="136198"/>
                    <a:pt x="0" y="87740"/>
                  </a:cubicBezTo>
                  <a:lnTo>
                    <a:pt x="0" y="87740"/>
                  </a:lnTo>
                  <a:cubicBezTo>
                    <a:pt x="0" y="39283"/>
                    <a:pt x="39283" y="0"/>
                    <a:pt x="87740"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53" id="53"/>
            <p:cNvSpPr txBox="true"/>
            <p:nvPr/>
          </p:nvSpPr>
          <p:spPr>
            <a:xfrm>
              <a:off x="0" y="-38100"/>
              <a:ext cx="803345" cy="213580"/>
            </a:xfrm>
            <a:prstGeom prst="rect">
              <a:avLst/>
            </a:prstGeom>
          </p:spPr>
          <p:txBody>
            <a:bodyPr anchor="ctr" rtlCol="false" tIns="50800" lIns="50800" bIns="50800" rIns="50800"/>
            <a:lstStyle/>
            <a:p>
              <a:pPr algn="ctr">
                <a:lnSpc>
                  <a:spcPts val="2659"/>
                </a:lnSpc>
              </a:pPr>
            </a:p>
          </p:txBody>
        </p:sp>
      </p:grpSp>
      <p:sp>
        <p:nvSpPr>
          <p:cNvPr name="TextBox 54" id="54"/>
          <p:cNvSpPr txBox="true"/>
          <p:nvPr/>
        </p:nvSpPr>
        <p:spPr>
          <a:xfrm rot="0">
            <a:off x="7866781" y="5413247"/>
            <a:ext cx="3643441" cy="560959"/>
          </a:xfrm>
          <a:prstGeom prst="rect">
            <a:avLst/>
          </a:prstGeom>
        </p:spPr>
        <p:txBody>
          <a:bodyPr anchor="t" rtlCol="false" tIns="0" lIns="0" bIns="0" rIns="0">
            <a:spAutoFit/>
          </a:bodyPr>
          <a:lstStyle/>
          <a:p>
            <a:pPr algn="l">
              <a:lnSpc>
                <a:spcPts val="4448"/>
              </a:lnSpc>
            </a:pPr>
            <a:r>
              <a:rPr lang="en-US" sz="3200" spc="-102" b="true">
                <a:solidFill>
                  <a:srgbClr val="FFFFFF"/>
                </a:solidFill>
                <a:latin typeface="Now Bold"/>
                <a:ea typeface="Now Bold"/>
                <a:cs typeface="Now Bold"/>
                <a:sym typeface="Now Bold"/>
              </a:rPr>
              <a:t>O</a:t>
            </a:r>
            <a:r>
              <a:rPr lang="en-US" b="true" sz="3200" spc="-102">
                <a:solidFill>
                  <a:srgbClr val="FFFFFF"/>
                </a:solidFill>
                <a:latin typeface="Now Bold"/>
                <a:ea typeface="Now Bold"/>
                <a:cs typeface="Now Bold"/>
                <a:sym typeface="Now Bold"/>
              </a:rPr>
              <a:t>bjective 04</a:t>
            </a:r>
          </a:p>
        </p:txBody>
      </p:sp>
      <p:sp>
        <p:nvSpPr>
          <p:cNvPr name="TextBox 55" id="55"/>
          <p:cNvSpPr txBox="true"/>
          <p:nvPr/>
        </p:nvSpPr>
        <p:spPr>
          <a:xfrm rot="0">
            <a:off x="10741268" y="5413247"/>
            <a:ext cx="3643441" cy="560959"/>
          </a:xfrm>
          <a:prstGeom prst="rect">
            <a:avLst/>
          </a:prstGeom>
        </p:spPr>
        <p:txBody>
          <a:bodyPr anchor="t" rtlCol="false" tIns="0" lIns="0" bIns="0" rIns="0">
            <a:spAutoFit/>
          </a:bodyPr>
          <a:lstStyle/>
          <a:p>
            <a:pPr algn="l">
              <a:lnSpc>
                <a:spcPts val="4448"/>
              </a:lnSpc>
            </a:pPr>
            <a:r>
              <a:rPr lang="en-US" sz="3200" spc="-102" b="true">
                <a:solidFill>
                  <a:srgbClr val="FFFFFF"/>
                </a:solidFill>
                <a:latin typeface="Now Bold"/>
                <a:ea typeface="Now Bold"/>
                <a:cs typeface="Now Bold"/>
                <a:sym typeface="Now Bold"/>
              </a:rPr>
              <a:t>Objective 5</a:t>
            </a:r>
          </a:p>
        </p:txBody>
      </p:sp>
      <p:sp>
        <p:nvSpPr>
          <p:cNvPr name="TextBox 56" id="56"/>
          <p:cNvSpPr txBox="true"/>
          <p:nvPr/>
        </p:nvSpPr>
        <p:spPr>
          <a:xfrm rot="0">
            <a:off x="13582652" y="5465072"/>
            <a:ext cx="3643441" cy="560959"/>
          </a:xfrm>
          <a:prstGeom prst="rect">
            <a:avLst/>
          </a:prstGeom>
        </p:spPr>
        <p:txBody>
          <a:bodyPr anchor="t" rtlCol="false" tIns="0" lIns="0" bIns="0" rIns="0">
            <a:spAutoFit/>
          </a:bodyPr>
          <a:lstStyle/>
          <a:p>
            <a:pPr algn="l">
              <a:lnSpc>
                <a:spcPts val="4448"/>
              </a:lnSpc>
            </a:pPr>
            <a:r>
              <a:rPr lang="en-US" sz="3200" spc="-102" b="true">
                <a:solidFill>
                  <a:srgbClr val="FFFFFF"/>
                </a:solidFill>
                <a:latin typeface="Now Bold"/>
                <a:ea typeface="Now Bold"/>
                <a:cs typeface="Now Bold"/>
                <a:sym typeface="Now Bold"/>
              </a:rPr>
              <a:t>Objective 6</a:t>
            </a:r>
          </a:p>
        </p:txBody>
      </p:sp>
      <p:sp>
        <p:nvSpPr>
          <p:cNvPr name="TextBox 57" id="57"/>
          <p:cNvSpPr txBox="true"/>
          <p:nvPr/>
        </p:nvSpPr>
        <p:spPr>
          <a:xfrm rot="0">
            <a:off x="8018330" y="6282949"/>
            <a:ext cx="2749934" cy="3426460"/>
          </a:xfrm>
          <a:prstGeom prst="rect">
            <a:avLst/>
          </a:prstGeom>
        </p:spPr>
        <p:txBody>
          <a:bodyPr anchor="t" rtlCol="false" tIns="0" lIns="0" bIns="0" rIns="0">
            <a:spAutoFit/>
          </a:bodyPr>
          <a:lstStyle/>
          <a:p>
            <a:pPr algn="l">
              <a:lnSpc>
                <a:spcPts val="2719"/>
              </a:lnSpc>
            </a:pPr>
            <a:r>
              <a:rPr lang="en-US" sz="1999" spc="-49">
                <a:solidFill>
                  <a:srgbClr val="FFFFFF"/>
                </a:solidFill>
                <a:latin typeface="DM Sans"/>
                <a:ea typeface="DM Sans"/>
                <a:cs typeface="DM Sans"/>
                <a:sym typeface="DM Sans"/>
              </a:rPr>
              <a:t>To support students in making more informed financial decisions by giving them clear and updated information about their remaining balances across different spending categories.</a:t>
            </a:r>
          </a:p>
          <a:p>
            <a:pPr algn="l">
              <a:lnSpc>
                <a:spcPts val="2719"/>
              </a:lnSpc>
            </a:pPr>
          </a:p>
        </p:txBody>
      </p:sp>
      <p:sp>
        <p:nvSpPr>
          <p:cNvPr name="TextBox 58" id="58"/>
          <p:cNvSpPr txBox="true"/>
          <p:nvPr/>
        </p:nvSpPr>
        <p:spPr>
          <a:xfrm rot="0">
            <a:off x="13827683" y="6321306"/>
            <a:ext cx="3153378" cy="3769360"/>
          </a:xfrm>
          <a:prstGeom prst="rect">
            <a:avLst/>
          </a:prstGeom>
        </p:spPr>
        <p:txBody>
          <a:bodyPr anchor="t" rtlCol="false" tIns="0" lIns="0" bIns="0" rIns="0">
            <a:spAutoFit/>
          </a:bodyPr>
          <a:lstStyle/>
          <a:p>
            <a:pPr algn="l">
              <a:lnSpc>
                <a:spcPts val="2719"/>
              </a:lnSpc>
            </a:pPr>
            <a:r>
              <a:rPr lang="en-US" sz="1999" spc="-49">
                <a:solidFill>
                  <a:srgbClr val="FFFFFF"/>
                </a:solidFill>
                <a:latin typeface="DM Sans"/>
                <a:ea typeface="DM Sans"/>
                <a:cs typeface="DM Sans"/>
                <a:sym typeface="DM Sans"/>
              </a:rPr>
              <a:t>To determine the effectiveness of the Budget Tracker in promoting better financial management among students based on its ability to assist users in organizing, tracking, and reviewing their expenses throughout one budgeting cycle.</a:t>
            </a:r>
          </a:p>
          <a:p>
            <a:pPr algn="l">
              <a:lnSpc>
                <a:spcPts val="2719"/>
              </a:lnSpc>
            </a:pPr>
          </a:p>
        </p:txBody>
      </p:sp>
      <p:sp>
        <p:nvSpPr>
          <p:cNvPr name="TextBox 59" id="59"/>
          <p:cNvSpPr txBox="true"/>
          <p:nvPr/>
        </p:nvSpPr>
        <p:spPr>
          <a:xfrm rot="0">
            <a:off x="10932531" y="6282949"/>
            <a:ext cx="2581509" cy="3426460"/>
          </a:xfrm>
          <a:prstGeom prst="rect">
            <a:avLst/>
          </a:prstGeom>
        </p:spPr>
        <p:txBody>
          <a:bodyPr anchor="t" rtlCol="false" tIns="0" lIns="0" bIns="0" rIns="0">
            <a:spAutoFit/>
          </a:bodyPr>
          <a:lstStyle/>
          <a:p>
            <a:pPr algn="l">
              <a:lnSpc>
                <a:spcPts val="2719"/>
              </a:lnSpc>
            </a:pPr>
            <a:r>
              <a:rPr lang="en-US" sz="1999" spc="-49">
                <a:solidFill>
                  <a:srgbClr val="FFFFFF"/>
                </a:solidFill>
                <a:latin typeface="DM Sans"/>
                <a:ea typeface="DM Sans"/>
                <a:cs typeface="DM Sans"/>
                <a:sym typeface="DM Sans"/>
              </a:rPr>
              <a:t>To provide an accessible and easy-to-use tool that fits the daily routines of students, thereby increasing the likelihood of consistent usage and long-term adoption.</a:t>
            </a:r>
          </a:p>
          <a:p>
            <a:pPr algn="l">
              <a:lnSpc>
                <a:spcPts val="27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678305" y="-235330"/>
            <a:ext cx="11326854" cy="11326854"/>
          </a:xfrm>
          <a:custGeom>
            <a:avLst/>
            <a:gdLst/>
            <a:ahLst/>
            <a:cxnLst/>
            <a:rect r="r" b="b" t="t" l="l"/>
            <a:pathLst>
              <a:path h="11326854" w="11326854">
                <a:moveTo>
                  <a:pt x="0" y="0"/>
                </a:moveTo>
                <a:lnTo>
                  <a:pt x="11326854" y="0"/>
                </a:lnTo>
                <a:lnTo>
                  <a:pt x="11326854" y="11326853"/>
                </a:lnTo>
                <a:lnTo>
                  <a:pt x="0" y="11326853"/>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4378530" y="1564327"/>
            <a:ext cx="9710291" cy="1102426"/>
          </a:xfrm>
          <a:prstGeom prst="rect">
            <a:avLst/>
          </a:prstGeom>
        </p:spPr>
        <p:txBody>
          <a:bodyPr anchor="t" rtlCol="false" tIns="0" lIns="0" bIns="0" rIns="0">
            <a:spAutoFit/>
          </a:bodyPr>
          <a:lstStyle/>
          <a:p>
            <a:pPr algn="ctr" marL="0" indent="0" lvl="0">
              <a:lnSpc>
                <a:spcPts val="8085"/>
              </a:lnSpc>
            </a:pPr>
            <a:r>
              <a:rPr lang="en-US" sz="8983" spc="-539">
                <a:solidFill>
                  <a:srgbClr val="FFFFFF"/>
                </a:solidFill>
                <a:latin typeface="Helvetica World"/>
                <a:ea typeface="Helvetica World"/>
                <a:cs typeface="Helvetica World"/>
                <a:sym typeface="Helvetica World"/>
              </a:rPr>
              <a:t>Methodolog</a:t>
            </a:r>
            <a:r>
              <a:rPr lang="en-US" sz="8983" spc="-539">
                <a:solidFill>
                  <a:srgbClr val="FFFFFF"/>
                </a:solidFill>
                <a:latin typeface="Helvetica World"/>
                <a:ea typeface="Helvetica World"/>
                <a:cs typeface="Helvetica World"/>
                <a:sym typeface="Helvetica World"/>
              </a:rPr>
              <a:t>y</a:t>
            </a:r>
          </a:p>
        </p:txBody>
      </p:sp>
      <p:sp>
        <p:nvSpPr>
          <p:cNvPr name="AutoShape 5" id="5"/>
          <p:cNvSpPr/>
          <p:nvPr/>
        </p:nvSpPr>
        <p:spPr>
          <a:xfrm flipV="true">
            <a:off x="6385667" y="2503138"/>
            <a:ext cx="5558400" cy="0"/>
          </a:xfrm>
          <a:prstGeom prst="line">
            <a:avLst/>
          </a:prstGeom>
          <a:ln cap="rnd" w="38100">
            <a:solidFill>
              <a:srgbClr val="FFFFFF"/>
            </a:solidFill>
            <a:prstDash val="solid"/>
            <a:headEnd type="none" len="sm" w="sm"/>
            <a:tailEnd type="none" len="sm" w="sm"/>
          </a:ln>
        </p:spPr>
      </p:sp>
      <p:sp>
        <p:nvSpPr>
          <p:cNvPr name="AutoShape 6" id="6"/>
          <p:cNvSpPr/>
          <p:nvPr/>
        </p:nvSpPr>
        <p:spPr>
          <a:xfrm>
            <a:off x="1028700" y="1373162"/>
            <a:ext cx="16230600" cy="0"/>
          </a:xfrm>
          <a:prstGeom prst="line">
            <a:avLst/>
          </a:prstGeom>
          <a:ln cap="rnd" w="19050">
            <a:solidFill>
              <a:srgbClr val="FFFFFF"/>
            </a:solidFill>
            <a:prstDash val="solid"/>
            <a:headEnd type="none" len="sm" w="sm"/>
            <a:tailEnd type="none" len="sm" w="sm"/>
          </a:ln>
        </p:spPr>
      </p:sp>
      <p:grpSp>
        <p:nvGrpSpPr>
          <p:cNvPr name="Group 7" id="7"/>
          <p:cNvGrpSpPr/>
          <p:nvPr/>
        </p:nvGrpSpPr>
        <p:grpSpPr>
          <a:xfrm rot="0">
            <a:off x="349314" y="6422923"/>
            <a:ext cx="5634429" cy="3474927"/>
            <a:chOff x="0" y="0"/>
            <a:chExt cx="7512572" cy="4633236"/>
          </a:xfrm>
        </p:grpSpPr>
        <p:grpSp>
          <p:nvGrpSpPr>
            <p:cNvPr name="Group 8" id="8"/>
            <p:cNvGrpSpPr/>
            <p:nvPr/>
          </p:nvGrpSpPr>
          <p:grpSpPr>
            <a:xfrm rot="0">
              <a:off x="0" y="513129"/>
              <a:ext cx="7345629" cy="4120106"/>
              <a:chOff x="0" y="0"/>
              <a:chExt cx="1616830" cy="906867"/>
            </a:xfrm>
          </p:grpSpPr>
          <p:sp>
            <p:nvSpPr>
              <p:cNvPr name="Freeform 9" id="9"/>
              <p:cNvSpPr/>
              <p:nvPr/>
            </p:nvSpPr>
            <p:spPr>
              <a:xfrm flipH="false" flipV="false" rot="0">
                <a:off x="0" y="0"/>
                <a:ext cx="1616830" cy="906867"/>
              </a:xfrm>
              <a:custGeom>
                <a:avLst/>
                <a:gdLst/>
                <a:ahLst/>
                <a:cxnLst/>
                <a:rect r="r" b="b" t="t" l="l"/>
                <a:pathLst>
                  <a:path h="906867" w="1616830">
                    <a:moveTo>
                      <a:pt x="84316" y="0"/>
                    </a:moveTo>
                    <a:lnTo>
                      <a:pt x="1532514" y="0"/>
                    </a:lnTo>
                    <a:cubicBezTo>
                      <a:pt x="1579080" y="0"/>
                      <a:pt x="1616830" y="37750"/>
                      <a:pt x="1616830" y="84316"/>
                    </a:cubicBezTo>
                    <a:lnTo>
                      <a:pt x="1616830" y="822551"/>
                    </a:lnTo>
                    <a:cubicBezTo>
                      <a:pt x="1616830" y="844913"/>
                      <a:pt x="1607946" y="866359"/>
                      <a:pt x="1592134" y="882172"/>
                    </a:cubicBezTo>
                    <a:cubicBezTo>
                      <a:pt x="1576322" y="897984"/>
                      <a:pt x="1554876" y="906867"/>
                      <a:pt x="1532514" y="906867"/>
                    </a:cubicBezTo>
                    <a:lnTo>
                      <a:pt x="84316" y="906867"/>
                    </a:lnTo>
                    <a:cubicBezTo>
                      <a:pt x="61954" y="906867"/>
                      <a:pt x="40508" y="897984"/>
                      <a:pt x="24696" y="882172"/>
                    </a:cubicBezTo>
                    <a:cubicBezTo>
                      <a:pt x="8883" y="866359"/>
                      <a:pt x="0" y="844913"/>
                      <a:pt x="0" y="822551"/>
                    </a:cubicBezTo>
                    <a:lnTo>
                      <a:pt x="0" y="84316"/>
                    </a:lnTo>
                    <a:cubicBezTo>
                      <a:pt x="0" y="61954"/>
                      <a:pt x="8883" y="40508"/>
                      <a:pt x="24696" y="24696"/>
                    </a:cubicBezTo>
                    <a:cubicBezTo>
                      <a:pt x="40508" y="8883"/>
                      <a:pt x="61954" y="0"/>
                      <a:pt x="84316" y="0"/>
                    </a:cubicBezTo>
                    <a:close/>
                  </a:path>
                </a:pathLst>
              </a:custGeom>
              <a:solidFill>
                <a:srgbClr val="DAE1E6"/>
              </a:solidFill>
              <a:ln w="19050" cap="rnd">
                <a:solidFill>
                  <a:srgbClr val="222223"/>
                </a:solidFill>
                <a:prstDash val="solid"/>
                <a:round/>
              </a:ln>
            </p:spPr>
          </p:sp>
          <p:sp>
            <p:nvSpPr>
              <p:cNvPr name="TextBox 10" id="10"/>
              <p:cNvSpPr txBox="true"/>
              <p:nvPr/>
            </p:nvSpPr>
            <p:spPr>
              <a:xfrm>
                <a:off x="0" y="-38100"/>
                <a:ext cx="1616830" cy="94496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7512572" cy="1268087"/>
              <a:chOff x="0" y="0"/>
              <a:chExt cx="1653575" cy="279116"/>
            </a:xfrm>
          </p:grpSpPr>
          <p:sp>
            <p:nvSpPr>
              <p:cNvPr name="Freeform 12" id="12"/>
              <p:cNvSpPr/>
              <p:nvPr/>
            </p:nvSpPr>
            <p:spPr>
              <a:xfrm flipH="false" flipV="false" rot="0">
                <a:off x="0" y="0"/>
                <a:ext cx="1653575" cy="279116"/>
              </a:xfrm>
              <a:custGeom>
                <a:avLst/>
                <a:gdLst/>
                <a:ahLst/>
                <a:cxnLst/>
                <a:rect r="r" b="b" t="t" l="l"/>
                <a:pathLst>
                  <a:path h="279116" w="1653575">
                    <a:moveTo>
                      <a:pt x="82442" y="0"/>
                    </a:moveTo>
                    <a:lnTo>
                      <a:pt x="1571133" y="0"/>
                    </a:lnTo>
                    <a:cubicBezTo>
                      <a:pt x="1616664" y="0"/>
                      <a:pt x="1653575" y="36911"/>
                      <a:pt x="1653575" y="82442"/>
                    </a:cubicBezTo>
                    <a:lnTo>
                      <a:pt x="1653575" y="196673"/>
                    </a:lnTo>
                    <a:cubicBezTo>
                      <a:pt x="1653575" y="242205"/>
                      <a:pt x="1616664" y="279116"/>
                      <a:pt x="1571133" y="279116"/>
                    </a:cubicBezTo>
                    <a:lnTo>
                      <a:pt x="82442" y="279116"/>
                    </a:lnTo>
                    <a:cubicBezTo>
                      <a:pt x="36911" y="279116"/>
                      <a:pt x="0" y="242205"/>
                      <a:pt x="0" y="196673"/>
                    </a:cubicBezTo>
                    <a:lnTo>
                      <a:pt x="0" y="82442"/>
                    </a:lnTo>
                    <a:cubicBezTo>
                      <a:pt x="0" y="36911"/>
                      <a:pt x="36911" y="0"/>
                      <a:pt x="82442"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13" id="13"/>
              <p:cNvSpPr txBox="true"/>
              <p:nvPr/>
            </p:nvSpPr>
            <p:spPr>
              <a:xfrm>
                <a:off x="0" y="-38100"/>
                <a:ext cx="1653575" cy="317216"/>
              </a:xfrm>
              <a:prstGeom prst="rect">
                <a:avLst/>
              </a:prstGeom>
            </p:spPr>
            <p:txBody>
              <a:bodyPr anchor="ctr" rtlCol="false" tIns="50800" lIns="50800" bIns="50800" rIns="50800"/>
              <a:lstStyle/>
              <a:p>
                <a:pPr algn="ctr">
                  <a:lnSpc>
                    <a:spcPts val="2659"/>
                  </a:lnSpc>
                </a:pPr>
              </a:p>
            </p:txBody>
          </p:sp>
        </p:grpSp>
      </p:grpSp>
      <p:grpSp>
        <p:nvGrpSpPr>
          <p:cNvPr name="Group 14" id="14"/>
          <p:cNvGrpSpPr/>
          <p:nvPr/>
        </p:nvGrpSpPr>
        <p:grpSpPr>
          <a:xfrm rot="0">
            <a:off x="122549" y="1620669"/>
            <a:ext cx="5901806" cy="4556151"/>
            <a:chOff x="0" y="0"/>
            <a:chExt cx="7869074" cy="6074868"/>
          </a:xfrm>
        </p:grpSpPr>
        <p:grpSp>
          <p:nvGrpSpPr>
            <p:cNvPr name="Group 15" id="15"/>
            <p:cNvGrpSpPr/>
            <p:nvPr/>
          </p:nvGrpSpPr>
          <p:grpSpPr>
            <a:xfrm rot="0">
              <a:off x="0" y="394796"/>
              <a:ext cx="7869074" cy="5680072"/>
              <a:chOff x="0" y="0"/>
              <a:chExt cx="1861412" cy="1343609"/>
            </a:xfrm>
          </p:grpSpPr>
          <p:sp>
            <p:nvSpPr>
              <p:cNvPr name="Freeform 16" id="16"/>
              <p:cNvSpPr/>
              <p:nvPr/>
            </p:nvSpPr>
            <p:spPr>
              <a:xfrm flipH="false" flipV="false" rot="0">
                <a:off x="0" y="0"/>
                <a:ext cx="1861412" cy="1343609"/>
              </a:xfrm>
              <a:custGeom>
                <a:avLst/>
                <a:gdLst/>
                <a:ahLst/>
                <a:cxnLst/>
                <a:rect r="r" b="b" t="t" l="l"/>
                <a:pathLst>
                  <a:path h="1343609" w="1861412">
                    <a:moveTo>
                      <a:pt x="73237" y="0"/>
                    </a:moveTo>
                    <a:lnTo>
                      <a:pt x="1788175" y="0"/>
                    </a:lnTo>
                    <a:cubicBezTo>
                      <a:pt x="1828623" y="0"/>
                      <a:pt x="1861412" y="32789"/>
                      <a:pt x="1861412" y="73237"/>
                    </a:cubicBezTo>
                    <a:lnTo>
                      <a:pt x="1861412" y="1270372"/>
                    </a:lnTo>
                    <a:cubicBezTo>
                      <a:pt x="1861412" y="1310819"/>
                      <a:pt x="1828623" y="1343609"/>
                      <a:pt x="1788175" y="1343609"/>
                    </a:cubicBezTo>
                    <a:lnTo>
                      <a:pt x="73237" y="1343609"/>
                    </a:lnTo>
                    <a:cubicBezTo>
                      <a:pt x="53813" y="1343609"/>
                      <a:pt x="35185" y="1335893"/>
                      <a:pt x="21451" y="1322158"/>
                    </a:cubicBezTo>
                    <a:cubicBezTo>
                      <a:pt x="7716" y="1308423"/>
                      <a:pt x="0" y="1289795"/>
                      <a:pt x="0" y="1270372"/>
                    </a:cubicBezTo>
                    <a:lnTo>
                      <a:pt x="0" y="73237"/>
                    </a:lnTo>
                    <a:cubicBezTo>
                      <a:pt x="0" y="32789"/>
                      <a:pt x="32789" y="0"/>
                      <a:pt x="73237" y="0"/>
                    </a:cubicBezTo>
                    <a:close/>
                  </a:path>
                </a:pathLst>
              </a:custGeom>
              <a:solidFill>
                <a:srgbClr val="DAE1E6"/>
              </a:solidFill>
              <a:ln w="19050" cap="rnd">
                <a:solidFill>
                  <a:srgbClr val="222223"/>
                </a:solidFill>
                <a:prstDash val="solid"/>
                <a:round/>
              </a:ln>
            </p:spPr>
          </p:sp>
          <p:sp>
            <p:nvSpPr>
              <p:cNvPr name="TextBox 17" id="17"/>
              <p:cNvSpPr txBox="true"/>
              <p:nvPr/>
            </p:nvSpPr>
            <p:spPr>
              <a:xfrm>
                <a:off x="0" y="-38100"/>
                <a:ext cx="1861412" cy="1381709"/>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363455" y="0"/>
              <a:ext cx="4920584" cy="910702"/>
              <a:chOff x="0" y="0"/>
              <a:chExt cx="1163953" cy="215425"/>
            </a:xfrm>
          </p:grpSpPr>
          <p:sp>
            <p:nvSpPr>
              <p:cNvPr name="Freeform 19" id="19"/>
              <p:cNvSpPr/>
              <p:nvPr/>
            </p:nvSpPr>
            <p:spPr>
              <a:xfrm flipH="false" flipV="false" rot="0">
                <a:off x="0" y="0"/>
                <a:ext cx="1163953" cy="215425"/>
              </a:xfrm>
              <a:custGeom>
                <a:avLst/>
                <a:gdLst/>
                <a:ahLst/>
                <a:cxnLst/>
                <a:rect r="r" b="b" t="t" l="l"/>
                <a:pathLst>
                  <a:path h="215425" w="1163953">
                    <a:moveTo>
                      <a:pt x="107712" y="0"/>
                    </a:moveTo>
                    <a:lnTo>
                      <a:pt x="1056241" y="0"/>
                    </a:lnTo>
                    <a:cubicBezTo>
                      <a:pt x="1084808" y="0"/>
                      <a:pt x="1112205" y="11348"/>
                      <a:pt x="1132405" y="31548"/>
                    </a:cubicBezTo>
                    <a:cubicBezTo>
                      <a:pt x="1152605" y="51748"/>
                      <a:pt x="1163953" y="79145"/>
                      <a:pt x="1163953" y="107712"/>
                    </a:cubicBezTo>
                    <a:lnTo>
                      <a:pt x="1163953" y="107712"/>
                    </a:lnTo>
                    <a:cubicBezTo>
                      <a:pt x="1163953" y="167200"/>
                      <a:pt x="1115729" y="215425"/>
                      <a:pt x="1056241" y="215425"/>
                    </a:cubicBezTo>
                    <a:lnTo>
                      <a:pt x="107712" y="215425"/>
                    </a:lnTo>
                    <a:cubicBezTo>
                      <a:pt x="48224" y="215425"/>
                      <a:pt x="0" y="167200"/>
                      <a:pt x="0" y="107712"/>
                    </a:cubicBezTo>
                    <a:lnTo>
                      <a:pt x="0" y="107712"/>
                    </a:lnTo>
                    <a:cubicBezTo>
                      <a:pt x="0" y="48224"/>
                      <a:pt x="48224" y="0"/>
                      <a:pt x="107712"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20" id="20"/>
              <p:cNvSpPr txBox="true"/>
              <p:nvPr/>
            </p:nvSpPr>
            <p:spPr>
              <a:xfrm>
                <a:off x="0" y="-38100"/>
                <a:ext cx="1163953" cy="253525"/>
              </a:xfrm>
              <a:prstGeom prst="rect">
                <a:avLst/>
              </a:prstGeom>
            </p:spPr>
            <p:txBody>
              <a:bodyPr anchor="ctr" rtlCol="false" tIns="50800" lIns="50800" bIns="50800" rIns="50800"/>
              <a:lstStyle/>
              <a:p>
                <a:pPr algn="ctr">
                  <a:lnSpc>
                    <a:spcPts val="2659"/>
                  </a:lnSpc>
                </a:pPr>
              </a:p>
            </p:txBody>
          </p:sp>
        </p:grpSp>
      </p:grpSp>
      <p:sp>
        <p:nvSpPr>
          <p:cNvPr name="Freeform 21" id="21"/>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1685501" y="662940"/>
            <a:ext cx="2775903" cy="349250"/>
          </a:xfrm>
          <a:prstGeom prst="rect">
            <a:avLst/>
          </a:prstGeom>
        </p:spPr>
        <p:txBody>
          <a:bodyPr anchor="t" rtlCol="false" tIns="0" lIns="0" bIns="0" rIns="0">
            <a:spAutoFit/>
          </a:bodyPr>
          <a:lstStyle/>
          <a:p>
            <a:pPr algn="l">
              <a:lnSpc>
                <a:spcPts val="2800"/>
              </a:lnSpc>
            </a:pPr>
            <a:r>
              <a:rPr lang="en-US" sz="2000" spc="-152" b="true">
                <a:solidFill>
                  <a:srgbClr val="FFFFFF"/>
                </a:solidFill>
                <a:latin typeface="Open Sauce Bold"/>
                <a:ea typeface="Open Sauce Bold"/>
                <a:cs typeface="Open Sauce Bold"/>
                <a:sym typeface="Open Sauce Bold"/>
              </a:rPr>
              <a:t>Technical Approach</a:t>
            </a:r>
          </a:p>
        </p:txBody>
      </p:sp>
      <p:sp>
        <p:nvSpPr>
          <p:cNvPr name="TextBox 23" id="23"/>
          <p:cNvSpPr txBox="true"/>
          <p:nvPr/>
        </p:nvSpPr>
        <p:spPr>
          <a:xfrm rot="0">
            <a:off x="480889" y="7395419"/>
            <a:ext cx="5185126" cy="2334514"/>
          </a:xfrm>
          <a:prstGeom prst="rect">
            <a:avLst/>
          </a:prstGeom>
        </p:spPr>
        <p:txBody>
          <a:bodyPr anchor="t" rtlCol="false" tIns="0" lIns="0" bIns="0" rIns="0">
            <a:spAutoFit/>
          </a:bodyPr>
          <a:lstStyle/>
          <a:p>
            <a:pPr algn="l" marL="496571" indent="-248285" lvl="1">
              <a:lnSpc>
                <a:spcPts val="3128"/>
              </a:lnSpc>
              <a:buFont typeface="Arial"/>
              <a:buChar char="•"/>
            </a:pPr>
            <a:r>
              <a:rPr lang="en-US" sz="2300" spc="-57">
                <a:solidFill>
                  <a:srgbClr val="21496F"/>
                </a:solidFill>
                <a:latin typeface="DM Sans"/>
                <a:ea typeface="DM Sans"/>
                <a:cs typeface="DM Sans"/>
                <a:sym typeface="DM Sans"/>
              </a:rPr>
              <a:t>Pyth</a:t>
            </a:r>
            <a:r>
              <a:rPr lang="en-US" sz="2300" spc="-57">
                <a:solidFill>
                  <a:srgbClr val="21496F"/>
                </a:solidFill>
                <a:latin typeface="DM Sans"/>
                <a:ea typeface="DM Sans"/>
                <a:cs typeface="DM Sans"/>
                <a:sym typeface="DM Sans"/>
              </a:rPr>
              <a:t>on-based CLI application (simple, accessible for students)</a:t>
            </a:r>
          </a:p>
          <a:p>
            <a:pPr algn="l" marL="496571" indent="-248285" lvl="1">
              <a:lnSpc>
                <a:spcPts val="3128"/>
              </a:lnSpc>
              <a:buFont typeface="Arial"/>
              <a:buChar char="•"/>
            </a:pPr>
            <a:r>
              <a:rPr lang="en-US" sz="2300" spc="-57">
                <a:solidFill>
                  <a:srgbClr val="21496F"/>
                </a:solidFill>
                <a:latin typeface="DM Sans"/>
                <a:ea typeface="DM Sans"/>
                <a:cs typeface="DM Sans"/>
                <a:sym typeface="DM Sans"/>
              </a:rPr>
              <a:t>JSON used for data storage and persistence</a:t>
            </a:r>
          </a:p>
          <a:p>
            <a:pPr algn="l" marL="496571" indent="-248285" lvl="1">
              <a:lnSpc>
                <a:spcPts val="3128"/>
              </a:lnSpc>
              <a:buFont typeface="Arial"/>
              <a:buChar char="•"/>
            </a:pPr>
            <a:r>
              <a:rPr lang="en-US" sz="2300" spc="-57">
                <a:solidFill>
                  <a:srgbClr val="21496F"/>
                </a:solidFill>
                <a:latin typeface="DM Sans"/>
                <a:ea typeface="DM Sans"/>
                <a:cs typeface="DM Sans"/>
                <a:sym typeface="DM Sans"/>
              </a:rPr>
              <a:t>Modular function-based structure (organized program flow)</a:t>
            </a:r>
          </a:p>
        </p:txBody>
      </p:sp>
      <p:sp>
        <p:nvSpPr>
          <p:cNvPr name="TextBox 24" id="24"/>
          <p:cNvSpPr txBox="true"/>
          <p:nvPr/>
        </p:nvSpPr>
        <p:spPr>
          <a:xfrm rot="0">
            <a:off x="13678305" y="7404944"/>
            <a:ext cx="5738830" cy="1820799"/>
          </a:xfrm>
          <a:prstGeom prst="rect">
            <a:avLst/>
          </a:prstGeom>
        </p:spPr>
        <p:txBody>
          <a:bodyPr anchor="t" rtlCol="false" tIns="0" lIns="0" bIns="0" rIns="0">
            <a:spAutoFit/>
          </a:bodyPr>
          <a:lstStyle/>
          <a:p>
            <a:pPr algn="l">
              <a:lnSpc>
                <a:spcPts val="2448"/>
              </a:lnSpc>
            </a:pPr>
            <a:r>
              <a:rPr lang="en-US" sz="1800" spc="-44">
                <a:solidFill>
                  <a:srgbClr val="21496F"/>
                </a:solidFill>
                <a:latin typeface="DM Sans"/>
                <a:ea typeface="DM Sans"/>
                <a:cs typeface="DM Sans"/>
                <a:sym typeface="DM Sans"/>
              </a:rPr>
              <a:t>Lorem ipsum dolor sit amet, consectetur adipiscing elit. Quisque molestie nisl eu sem tristique, sit amet convallis ex aliquam. Maecenas varius lectus hendrerit augue blandit, ut posuere erat aliquam. Praesent auctor tellus eget nisl blandit, at varius purus elementum. Quisque molestie nisl eu sem tristique, sit.</a:t>
            </a:r>
          </a:p>
        </p:txBody>
      </p:sp>
      <p:sp>
        <p:nvSpPr>
          <p:cNvPr name="TextBox 25" id="25"/>
          <p:cNvSpPr txBox="true"/>
          <p:nvPr/>
        </p:nvSpPr>
        <p:spPr>
          <a:xfrm rot="0">
            <a:off x="480889" y="6635290"/>
            <a:ext cx="5659743" cy="591820"/>
          </a:xfrm>
          <a:prstGeom prst="rect">
            <a:avLst/>
          </a:prstGeom>
        </p:spPr>
        <p:txBody>
          <a:bodyPr anchor="t" rtlCol="false" tIns="0" lIns="0" bIns="0" rIns="0">
            <a:spAutoFit/>
          </a:bodyPr>
          <a:lstStyle/>
          <a:p>
            <a:pPr algn="l">
              <a:lnSpc>
                <a:spcPts val="4865"/>
              </a:lnSpc>
            </a:pPr>
            <a:r>
              <a:rPr lang="en-US" sz="3500" spc="-112" b="true">
                <a:solidFill>
                  <a:srgbClr val="FFFFFF"/>
                </a:solidFill>
                <a:latin typeface="Now Bold"/>
                <a:ea typeface="Now Bold"/>
                <a:cs typeface="Now Bold"/>
                <a:sym typeface="Now Bold"/>
              </a:rPr>
              <a:t>Programming Approach</a:t>
            </a:r>
          </a:p>
        </p:txBody>
      </p:sp>
      <p:grpSp>
        <p:nvGrpSpPr>
          <p:cNvPr name="Group 26" id="26"/>
          <p:cNvGrpSpPr/>
          <p:nvPr/>
        </p:nvGrpSpPr>
        <p:grpSpPr>
          <a:xfrm rot="0">
            <a:off x="6523284" y="2874613"/>
            <a:ext cx="5668521" cy="6950974"/>
            <a:chOff x="0" y="0"/>
            <a:chExt cx="7558028" cy="9267965"/>
          </a:xfrm>
        </p:grpSpPr>
        <p:grpSp>
          <p:nvGrpSpPr>
            <p:cNvPr name="Group 27" id="27"/>
            <p:cNvGrpSpPr/>
            <p:nvPr/>
          </p:nvGrpSpPr>
          <p:grpSpPr>
            <a:xfrm rot="0">
              <a:off x="0" y="446096"/>
              <a:ext cx="7558028" cy="8821869"/>
              <a:chOff x="0" y="0"/>
              <a:chExt cx="1913561" cy="2233543"/>
            </a:xfrm>
          </p:grpSpPr>
          <p:sp>
            <p:nvSpPr>
              <p:cNvPr name="Freeform 28" id="28"/>
              <p:cNvSpPr/>
              <p:nvPr/>
            </p:nvSpPr>
            <p:spPr>
              <a:xfrm flipH="false" flipV="false" rot="0">
                <a:off x="0" y="0"/>
                <a:ext cx="1913561" cy="2233543"/>
              </a:xfrm>
              <a:custGeom>
                <a:avLst/>
                <a:gdLst/>
                <a:ahLst/>
                <a:cxnLst/>
                <a:rect r="r" b="b" t="t" l="l"/>
                <a:pathLst>
                  <a:path h="2233543" w="1913561">
                    <a:moveTo>
                      <a:pt x="71241" y="0"/>
                    </a:moveTo>
                    <a:lnTo>
                      <a:pt x="1842319" y="0"/>
                    </a:lnTo>
                    <a:cubicBezTo>
                      <a:pt x="1861214" y="0"/>
                      <a:pt x="1879334" y="7506"/>
                      <a:pt x="1892694" y="20866"/>
                    </a:cubicBezTo>
                    <a:cubicBezTo>
                      <a:pt x="1906055" y="34226"/>
                      <a:pt x="1913561" y="52347"/>
                      <a:pt x="1913561" y="71241"/>
                    </a:cubicBezTo>
                    <a:lnTo>
                      <a:pt x="1913561" y="2162302"/>
                    </a:lnTo>
                    <a:cubicBezTo>
                      <a:pt x="1913561" y="2181196"/>
                      <a:pt x="1906055" y="2199316"/>
                      <a:pt x="1892694" y="2212677"/>
                    </a:cubicBezTo>
                    <a:cubicBezTo>
                      <a:pt x="1879334" y="2226037"/>
                      <a:pt x="1861214" y="2233543"/>
                      <a:pt x="1842319" y="2233543"/>
                    </a:cubicBezTo>
                    <a:lnTo>
                      <a:pt x="71241" y="2233543"/>
                    </a:lnTo>
                    <a:cubicBezTo>
                      <a:pt x="52347" y="2233543"/>
                      <a:pt x="34226" y="2226037"/>
                      <a:pt x="20866" y="2212677"/>
                    </a:cubicBezTo>
                    <a:cubicBezTo>
                      <a:pt x="7506" y="2199316"/>
                      <a:pt x="0" y="2181196"/>
                      <a:pt x="0" y="2162302"/>
                    </a:cubicBezTo>
                    <a:lnTo>
                      <a:pt x="0" y="71241"/>
                    </a:lnTo>
                    <a:cubicBezTo>
                      <a:pt x="0" y="52347"/>
                      <a:pt x="7506" y="34226"/>
                      <a:pt x="20866" y="20866"/>
                    </a:cubicBezTo>
                    <a:cubicBezTo>
                      <a:pt x="34226" y="7506"/>
                      <a:pt x="52347" y="0"/>
                      <a:pt x="71241" y="0"/>
                    </a:cubicBezTo>
                    <a:close/>
                  </a:path>
                </a:pathLst>
              </a:custGeom>
              <a:solidFill>
                <a:srgbClr val="DAE1E6"/>
              </a:solidFill>
              <a:ln w="19050" cap="rnd">
                <a:solidFill>
                  <a:srgbClr val="222223"/>
                </a:solidFill>
                <a:prstDash val="solid"/>
                <a:round/>
              </a:ln>
            </p:spPr>
          </p:sp>
          <p:sp>
            <p:nvSpPr>
              <p:cNvPr name="TextBox 29" id="29"/>
              <p:cNvSpPr txBox="true"/>
              <p:nvPr/>
            </p:nvSpPr>
            <p:spPr>
              <a:xfrm>
                <a:off x="0" y="-38100"/>
                <a:ext cx="1913561" cy="2271643"/>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0" y="0"/>
              <a:ext cx="6501907" cy="1192607"/>
              <a:chOff x="0" y="0"/>
              <a:chExt cx="1646169" cy="301947"/>
            </a:xfrm>
          </p:grpSpPr>
          <p:sp>
            <p:nvSpPr>
              <p:cNvPr name="Freeform 31" id="31"/>
              <p:cNvSpPr/>
              <p:nvPr/>
            </p:nvSpPr>
            <p:spPr>
              <a:xfrm flipH="false" flipV="false" rot="0">
                <a:off x="0" y="0"/>
                <a:ext cx="1646169" cy="301947"/>
              </a:xfrm>
              <a:custGeom>
                <a:avLst/>
                <a:gdLst/>
                <a:ahLst/>
                <a:cxnLst/>
                <a:rect r="r" b="b" t="t" l="l"/>
                <a:pathLst>
                  <a:path h="301947" w="1646169">
                    <a:moveTo>
                      <a:pt x="82813" y="0"/>
                    </a:moveTo>
                    <a:lnTo>
                      <a:pt x="1563356" y="0"/>
                    </a:lnTo>
                    <a:cubicBezTo>
                      <a:pt x="1609092" y="0"/>
                      <a:pt x="1646169" y="37077"/>
                      <a:pt x="1646169" y="82813"/>
                    </a:cubicBezTo>
                    <a:lnTo>
                      <a:pt x="1646169" y="219134"/>
                    </a:lnTo>
                    <a:cubicBezTo>
                      <a:pt x="1646169" y="264870"/>
                      <a:pt x="1609092" y="301947"/>
                      <a:pt x="1563356" y="301947"/>
                    </a:cubicBezTo>
                    <a:lnTo>
                      <a:pt x="82813" y="301947"/>
                    </a:lnTo>
                    <a:cubicBezTo>
                      <a:pt x="37077" y="301947"/>
                      <a:pt x="0" y="264870"/>
                      <a:pt x="0" y="219134"/>
                    </a:cubicBezTo>
                    <a:lnTo>
                      <a:pt x="0" y="82813"/>
                    </a:lnTo>
                    <a:cubicBezTo>
                      <a:pt x="0" y="37077"/>
                      <a:pt x="37077" y="0"/>
                      <a:pt x="82813"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32" id="32"/>
              <p:cNvSpPr txBox="true"/>
              <p:nvPr/>
            </p:nvSpPr>
            <p:spPr>
              <a:xfrm>
                <a:off x="0" y="-38100"/>
                <a:ext cx="1646169" cy="340047"/>
              </a:xfrm>
              <a:prstGeom prst="rect">
                <a:avLst/>
              </a:prstGeom>
            </p:spPr>
            <p:txBody>
              <a:bodyPr anchor="ctr" rtlCol="false" tIns="50800" lIns="50800" bIns="50800" rIns="50800"/>
              <a:lstStyle/>
              <a:p>
                <a:pPr algn="ctr">
                  <a:lnSpc>
                    <a:spcPts val="2659"/>
                  </a:lnSpc>
                </a:pPr>
              </a:p>
            </p:txBody>
          </p:sp>
        </p:grpSp>
      </p:grpSp>
      <p:sp>
        <p:nvSpPr>
          <p:cNvPr name="TextBox 33" id="33"/>
          <p:cNvSpPr txBox="true"/>
          <p:nvPr/>
        </p:nvSpPr>
        <p:spPr>
          <a:xfrm rot="0">
            <a:off x="6771022" y="3002973"/>
            <a:ext cx="5173045" cy="592501"/>
          </a:xfrm>
          <a:prstGeom prst="rect">
            <a:avLst/>
          </a:prstGeom>
        </p:spPr>
        <p:txBody>
          <a:bodyPr anchor="t" rtlCol="false" tIns="0" lIns="0" bIns="0" rIns="0">
            <a:spAutoFit/>
          </a:bodyPr>
          <a:lstStyle/>
          <a:p>
            <a:pPr algn="l">
              <a:lnSpc>
                <a:spcPts val="4825"/>
              </a:lnSpc>
            </a:pPr>
            <a:r>
              <a:rPr lang="en-US" sz="3471" spc="-111" b="true">
                <a:solidFill>
                  <a:srgbClr val="FFFFFF"/>
                </a:solidFill>
                <a:latin typeface="Now Bold"/>
                <a:ea typeface="Now Bold"/>
                <a:cs typeface="Now Bold"/>
                <a:sym typeface="Now Bold"/>
              </a:rPr>
              <a:t>Core Functionalities</a:t>
            </a:r>
          </a:p>
        </p:txBody>
      </p:sp>
      <p:sp>
        <p:nvSpPr>
          <p:cNvPr name="TextBox 34" id="34"/>
          <p:cNvSpPr txBox="true"/>
          <p:nvPr/>
        </p:nvSpPr>
        <p:spPr>
          <a:xfrm rot="0">
            <a:off x="6523284" y="3909799"/>
            <a:ext cx="5420783" cy="5988050"/>
          </a:xfrm>
          <a:prstGeom prst="rect">
            <a:avLst/>
          </a:prstGeom>
        </p:spPr>
        <p:txBody>
          <a:bodyPr anchor="t" rtlCol="false" tIns="0" lIns="0" bIns="0" rIns="0">
            <a:spAutoFit/>
          </a:bodyPr>
          <a:lstStyle/>
          <a:p>
            <a:pPr algn="l" marL="539749" indent="-269875" lvl="1">
              <a:lnSpc>
                <a:spcPts val="3399"/>
              </a:lnSpc>
              <a:buFont typeface="Arial"/>
              <a:buChar char="•"/>
            </a:pPr>
            <a:r>
              <a:rPr lang="en-US" b="true" sz="2499" spc="-62">
                <a:solidFill>
                  <a:srgbClr val="21496F"/>
                </a:solidFill>
                <a:latin typeface="DM Sans Bold"/>
                <a:ea typeface="DM Sans Bold"/>
                <a:cs typeface="DM Sans Bold"/>
                <a:sym typeface="DM Sans Bold"/>
              </a:rPr>
              <a:t>User System:</a:t>
            </a:r>
            <a:r>
              <a:rPr lang="en-US" sz="2499" spc="-62">
                <a:solidFill>
                  <a:srgbClr val="21496F"/>
                </a:solidFill>
                <a:latin typeface="DM Sans"/>
                <a:ea typeface="DM Sans"/>
                <a:cs typeface="DM Sans"/>
                <a:sym typeface="DM Sans"/>
              </a:rPr>
              <a:t> account creation &amp; login using JSON-stored credentials</a:t>
            </a:r>
          </a:p>
          <a:p>
            <a:pPr algn="l" marL="539749" indent="-269875" lvl="1">
              <a:lnSpc>
                <a:spcPts val="3399"/>
              </a:lnSpc>
              <a:buFont typeface="Arial"/>
              <a:buChar char="•"/>
            </a:pPr>
            <a:r>
              <a:rPr lang="en-US" b="true" sz="2499" spc="-62">
                <a:solidFill>
                  <a:srgbClr val="21496F"/>
                </a:solidFill>
                <a:latin typeface="DM Sans Bold"/>
                <a:ea typeface="DM Sans Bold"/>
                <a:cs typeface="DM Sans Bold"/>
                <a:sym typeface="DM Sans Bold"/>
              </a:rPr>
              <a:t>Budget Setup:</a:t>
            </a:r>
            <a:r>
              <a:rPr lang="en-US" sz="2499" spc="-62">
                <a:solidFill>
                  <a:srgbClr val="21496F"/>
                </a:solidFill>
                <a:latin typeface="DM Sans"/>
                <a:ea typeface="DM Sans"/>
                <a:cs typeface="DM Sans"/>
                <a:sym typeface="DM Sans"/>
              </a:rPr>
              <a:t> weekly allowance input → initializes total balance</a:t>
            </a:r>
          </a:p>
          <a:p>
            <a:pPr algn="l" marL="539749" indent="-269875" lvl="1">
              <a:lnSpc>
                <a:spcPts val="3399"/>
              </a:lnSpc>
              <a:buFont typeface="Arial"/>
              <a:buChar char="•"/>
            </a:pPr>
            <a:r>
              <a:rPr lang="en-US" b="true" sz="2499" spc="-62">
                <a:solidFill>
                  <a:srgbClr val="21496F"/>
                </a:solidFill>
                <a:latin typeface="DM Sans Bold"/>
                <a:ea typeface="DM Sans Bold"/>
                <a:cs typeface="DM Sans Bold"/>
                <a:sym typeface="DM Sans Bold"/>
              </a:rPr>
              <a:t>Category System:</a:t>
            </a:r>
            <a:r>
              <a:rPr lang="en-US" sz="2499" spc="-62">
                <a:solidFill>
                  <a:srgbClr val="21496F"/>
                </a:solidFill>
                <a:latin typeface="DM Sans"/>
                <a:ea typeface="DM Sans"/>
                <a:cs typeface="DM Sans"/>
                <a:sym typeface="DM Sans"/>
              </a:rPr>
              <a:t> dictionary-based allocation (cafeteria, co-op, projects, savings)</a:t>
            </a:r>
          </a:p>
          <a:p>
            <a:pPr algn="l" marL="539749" indent="-269875" lvl="1">
              <a:lnSpc>
                <a:spcPts val="3399"/>
              </a:lnSpc>
              <a:buFont typeface="Arial"/>
              <a:buChar char="•"/>
            </a:pPr>
            <a:r>
              <a:rPr lang="en-US" b="true" sz="2499" spc="-62">
                <a:solidFill>
                  <a:srgbClr val="21496F"/>
                </a:solidFill>
                <a:latin typeface="DM Sans Bold"/>
                <a:ea typeface="DM Sans Bold"/>
                <a:cs typeface="DM Sans Bold"/>
                <a:sym typeface="DM Sans Bold"/>
              </a:rPr>
              <a:t>Expense Tracking:</a:t>
            </a:r>
            <a:r>
              <a:rPr lang="en-US" sz="2499" spc="-62">
                <a:solidFill>
                  <a:srgbClr val="21496F"/>
                </a:solidFill>
                <a:latin typeface="DM Sans"/>
                <a:ea typeface="DM Sans"/>
                <a:cs typeface="DM Sans"/>
                <a:sym typeface="DM Sans"/>
              </a:rPr>
              <a:t> input expense → deducts from balance &amp; category</a:t>
            </a:r>
          </a:p>
          <a:p>
            <a:pPr algn="l" marL="539749" indent="-269875" lvl="1">
              <a:lnSpc>
                <a:spcPts val="3399"/>
              </a:lnSpc>
              <a:buFont typeface="Arial"/>
              <a:buChar char="•"/>
            </a:pPr>
            <a:r>
              <a:rPr lang="en-US" b="true" sz="2499" spc="-62">
                <a:solidFill>
                  <a:srgbClr val="21496F"/>
                </a:solidFill>
                <a:latin typeface="DM Sans Bold"/>
                <a:ea typeface="DM Sans Bold"/>
                <a:cs typeface="DM Sans Bold"/>
                <a:sym typeface="DM Sans Bold"/>
              </a:rPr>
              <a:t>Transaction Logging:</a:t>
            </a:r>
            <a:r>
              <a:rPr lang="en-US" sz="2499" spc="-62">
                <a:solidFill>
                  <a:srgbClr val="21496F"/>
                </a:solidFill>
                <a:latin typeface="DM Sans"/>
                <a:ea typeface="DM Sans"/>
                <a:cs typeface="DM Sans"/>
                <a:sym typeface="DM Sans"/>
              </a:rPr>
              <a:t> all expenses stored as list of dictionaries</a:t>
            </a:r>
          </a:p>
          <a:p>
            <a:pPr algn="l">
              <a:lnSpc>
                <a:spcPts val="3399"/>
              </a:lnSpc>
            </a:pPr>
          </a:p>
        </p:txBody>
      </p:sp>
      <p:grpSp>
        <p:nvGrpSpPr>
          <p:cNvPr name="Group 35" id="35"/>
          <p:cNvGrpSpPr/>
          <p:nvPr/>
        </p:nvGrpSpPr>
        <p:grpSpPr>
          <a:xfrm rot="0">
            <a:off x="12372780" y="1620669"/>
            <a:ext cx="5609193" cy="4074735"/>
            <a:chOff x="0" y="0"/>
            <a:chExt cx="7478925" cy="5432980"/>
          </a:xfrm>
        </p:grpSpPr>
        <p:grpSp>
          <p:nvGrpSpPr>
            <p:cNvPr name="Group 36" id="36"/>
            <p:cNvGrpSpPr/>
            <p:nvPr/>
          </p:nvGrpSpPr>
          <p:grpSpPr>
            <a:xfrm rot="0">
              <a:off x="0" y="553329"/>
              <a:ext cx="7478925" cy="4879651"/>
              <a:chOff x="0" y="0"/>
              <a:chExt cx="1646169" cy="1074049"/>
            </a:xfrm>
          </p:grpSpPr>
          <p:sp>
            <p:nvSpPr>
              <p:cNvPr name="Freeform 37" id="37"/>
              <p:cNvSpPr/>
              <p:nvPr/>
            </p:nvSpPr>
            <p:spPr>
              <a:xfrm flipH="false" flipV="false" rot="0">
                <a:off x="0" y="0"/>
                <a:ext cx="1646169" cy="1074049"/>
              </a:xfrm>
              <a:custGeom>
                <a:avLst/>
                <a:gdLst/>
                <a:ahLst/>
                <a:cxnLst/>
                <a:rect r="r" b="b" t="t" l="l"/>
                <a:pathLst>
                  <a:path h="1074049" w="1646169">
                    <a:moveTo>
                      <a:pt x="82813" y="0"/>
                    </a:moveTo>
                    <a:lnTo>
                      <a:pt x="1563356" y="0"/>
                    </a:lnTo>
                    <a:cubicBezTo>
                      <a:pt x="1609092" y="0"/>
                      <a:pt x="1646169" y="37077"/>
                      <a:pt x="1646169" y="82813"/>
                    </a:cubicBezTo>
                    <a:lnTo>
                      <a:pt x="1646169" y="991236"/>
                    </a:lnTo>
                    <a:cubicBezTo>
                      <a:pt x="1646169" y="1036972"/>
                      <a:pt x="1609092" y="1074049"/>
                      <a:pt x="1563356" y="1074049"/>
                    </a:cubicBezTo>
                    <a:lnTo>
                      <a:pt x="82813" y="1074049"/>
                    </a:lnTo>
                    <a:cubicBezTo>
                      <a:pt x="37077" y="1074049"/>
                      <a:pt x="0" y="1036972"/>
                      <a:pt x="0" y="991236"/>
                    </a:cubicBezTo>
                    <a:lnTo>
                      <a:pt x="0" y="82813"/>
                    </a:lnTo>
                    <a:cubicBezTo>
                      <a:pt x="0" y="37077"/>
                      <a:pt x="37077" y="0"/>
                      <a:pt x="82813" y="0"/>
                    </a:cubicBezTo>
                    <a:close/>
                  </a:path>
                </a:pathLst>
              </a:custGeom>
              <a:solidFill>
                <a:srgbClr val="DAE1E6"/>
              </a:solidFill>
              <a:ln w="19050" cap="rnd">
                <a:solidFill>
                  <a:srgbClr val="222223"/>
                </a:solidFill>
                <a:prstDash val="solid"/>
                <a:round/>
              </a:ln>
            </p:spPr>
          </p:sp>
          <p:sp>
            <p:nvSpPr>
              <p:cNvPr name="TextBox 38" id="38"/>
              <p:cNvSpPr txBox="true"/>
              <p:nvPr/>
            </p:nvSpPr>
            <p:spPr>
              <a:xfrm>
                <a:off x="0" y="-38100"/>
                <a:ext cx="1646169" cy="1112149"/>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0" y="0"/>
              <a:ext cx="7478925" cy="1479287"/>
              <a:chOff x="0" y="0"/>
              <a:chExt cx="1646169" cy="325602"/>
            </a:xfrm>
          </p:grpSpPr>
          <p:sp>
            <p:nvSpPr>
              <p:cNvPr name="Freeform 40" id="40"/>
              <p:cNvSpPr/>
              <p:nvPr/>
            </p:nvSpPr>
            <p:spPr>
              <a:xfrm flipH="false" flipV="false" rot="0">
                <a:off x="0" y="0"/>
                <a:ext cx="1646169" cy="325602"/>
              </a:xfrm>
              <a:custGeom>
                <a:avLst/>
                <a:gdLst/>
                <a:ahLst/>
                <a:cxnLst/>
                <a:rect r="r" b="b" t="t" l="l"/>
                <a:pathLst>
                  <a:path h="325602" w="1646169">
                    <a:moveTo>
                      <a:pt x="82813" y="0"/>
                    </a:moveTo>
                    <a:lnTo>
                      <a:pt x="1563356" y="0"/>
                    </a:lnTo>
                    <a:cubicBezTo>
                      <a:pt x="1609092" y="0"/>
                      <a:pt x="1646169" y="37077"/>
                      <a:pt x="1646169" y="82813"/>
                    </a:cubicBezTo>
                    <a:lnTo>
                      <a:pt x="1646169" y="242789"/>
                    </a:lnTo>
                    <a:cubicBezTo>
                      <a:pt x="1646169" y="288526"/>
                      <a:pt x="1609092" y="325602"/>
                      <a:pt x="1563356" y="325602"/>
                    </a:cubicBezTo>
                    <a:lnTo>
                      <a:pt x="82813" y="325602"/>
                    </a:lnTo>
                    <a:cubicBezTo>
                      <a:pt x="37077" y="325602"/>
                      <a:pt x="0" y="288526"/>
                      <a:pt x="0" y="242789"/>
                    </a:cubicBezTo>
                    <a:lnTo>
                      <a:pt x="0" y="82813"/>
                    </a:lnTo>
                    <a:cubicBezTo>
                      <a:pt x="0" y="37077"/>
                      <a:pt x="37077" y="0"/>
                      <a:pt x="82813"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41" id="41"/>
              <p:cNvSpPr txBox="true"/>
              <p:nvPr/>
            </p:nvSpPr>
            <p:spPr>
              <a:xfrm>
                <a:off x="0" y="-38100"/>
                <a:ext cx="1646169" cy="363702"/>
              </a:xfrm>
              <a:prstGeom prst="rect">
                <a:avLst/>
              </a:prstGeom>
            </p:spPr>
            <p:txBody>
              <a:bodyPr anchor="ctr" rtlCol="false" tIns="50800" lIns="50800" bIns="50800" rIns="50800"/>
              <a:lstStyle/>
              <a:p>
                <a:pPr algn="ctr">
                  <a:lnSpc>
                    <a:spcPts val="2659"/>
                  </a:lnSpc>
                </a:pPr>
              </a:p>
            </p:txBody>
          </p:sp>
        </p:grpSp>
      </p:grpSp>
      <p:sp>
        <p:nvSpPr>
          <p:cNvPr name="TextBox 42" id="42"/>
          <p:cNvSpPr txBox="true"/>
          <p:nvPr/>
        </p:nvSpPr>
        <p:spPr>
          <a:xfrm rot="0">
            <a:off x="682241" y="1630337"/>
            <a:ext cx="5659743" cy="627507"/>
          </a:xfrm>
          <a:prstGeom prst="rect">
            <a:avLst/>
          </a:prstGeom>
        </p:spPr>
        <p:txBody>
          <a:bodyPr anchor="t" rtlCol="false" tIns="0" lIns="0" bIns="0" rIns="0">
            <a:spAutoFit/>
          </a:bodyPr>
          <a:lstStyle/>
          <a:p>
            <a:pPr algn="l">
              <a:lnSpc>
                <a:spcPts val="5004"/>
              </a:lnSpc>
            </a:pPr>
            <a:r>
              <a:rPr lang="en-US" sz="3600" spc="-115" b="true">
                <a:solidFill>
                  <a:srgbClr val="FFFFFF"/>
                </a:solidFill>
                <a:latin typeface="Now Bold"/>
                <a:ea typeface="Now Bold"/>
                <a:cs typeface="Now Bold"/>
                <a:sym typeface="Now Bold"/>
              </a:rPr>
              <a:t>Data Handling</a:t>
            </a:r>
          </a:p>
        </p:txBody>
      </p:sp>
      <p:sp>
        <p:nvSpPr>
          <p:cNvPr name="TextBox 43" id="43"/>
          <p:cNvSpPr txBox="true"/>
          <p:nvPr/>
        </p:nvSpPr>
        <p:spPr>
          <a:xfrm rot="0">
            <a:off x="240355" y="2219744"/>
            <a:ext cx="5852347" cy="3844925"/>
          </a:xfrm>
          <a:prstGeom prst="rect">
            <a:avLst/>
          </a:prstGeom>
        </p:spPr>
        <p:txBody>
          <a:bodyPr anchor="t" rtlCol="false" tIns="0" lIns="0" bIns="0" rIns="0">
            <a:spAutoFit/>
          </a:bodyPr>
          <a:lstStyle/>
          <a:p>
            <a:pPr algn="l" marL="539749" indent="-269875" lvl="1">
              <a:lnSpc>
                <a:spcPts val="3399"/>
              </a:lnSpc>
              <a:buFont typeface="Arial"/>
              <a:buChar char="•"/>
            </a:pPr>
            <a:r>
              <a:rPr lang="en-US" sz="2499" spc="-62">
                <a:solidFill>
                  <a:srgbClr val="21496F"/>
                </a:solidFill>
                <a:latin typeface="DM Sans"/>
                <a:ea typeface="DM Sans"/>
                <a:cs typeface="DM Sans"/>
                <a:sym typeface="DM Sans"/>
              </a:rPr>
              <a:t>JSON functions: json.load() and json.dump()</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Supports persistent storage of:</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accounts, categories, transactions</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Uses CRUD operations:</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Create (register, add expense)</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Read (view logs/balance)</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Update (adjust budgets/categories)</a:t>
            </a:r>
          </a:p>
          <a:p>
            <a:pPr algn="l" marL="539749" indent="-269875" lvl="1">
              <a:lnSpc>
                <a:spcPts val="3399"/>
              </a:lnSpc>
              <a:buFont typeface="Arial"/>
              <a:buChar char="•"/>
            </a:pPr>
            <a:r>
              <a:rPr lang="en-US" sz="2499" spc="-62">
                <a:solidFill>
                  <a:srgbClr val="21496F"/>
                </a:solidFill>
                <a:latin typeface="DM Sans"/>
                <a:ea typeface="DM Sans"/>
                <a:cs typeface="DM Sans"/>
                <a:sym typeface="DM Sans"/>
              </a:rPr>
              <a:t>Delete (remove entries/categories)</a:t>
            </a:r>
          </a:p>
        </p:txBody>
      </p:sp>
      <p:grpSp>
        <p:nvGrpSpPr>
          <p:cNvPr name="Group 44" id="44"/>
          <p:cNvGrpSpPr/>
          <p:nvPr/>
        </p:nvGrpSpPr>
        <p:grpSpPr>
          <a:xfrm rot="0">
            <a:off x="12372780" y="5847028"/>
            <a:ext cx="5848008" cy="4050821"/>
            <a:chOff x="0" y="0"/>
            <a:chExt cx="7797345" cy="5401095"/>
          </a:xfrm>
        </p:grpSpPr>
        <p:grpSp>
          <p:nvGrpSpPr>
            <p:cNvPr name="Group 45" id="45"/>
            <p:cNvGrpSpPr/>
            <p:nvPr/>
          </p:nvGrpSpPr>
          <p:grpSpPr>
            <a:xfrm rot="0">
              <a:off x="0" y="739643"/>
              <a:ext cx="7797345" cy="4661452"/>
              <a:chOff x="0" y="0"/>
              <a:chExt cx="1716256" cy="1026022"/>
            </a:xfrm>
          </p:grpSpPr>
          <p:sp>
            <p:nvSpPr>
              <p:cNvPr name="Freeform 46" id="46"/>
              <p:cNvSpPr/>
              <p:nvPr/>
            </p:nvSpPr>
            <p:spPr>
              <a:xfrm flipH="false" flipV="false" rot="0">
                <a:off x="0" y="0"/>
                <a:ext cx="1716256" cy="1026021"/>
              </a:xfrm>
              <a:custGeom>
                <a:avLst/>
                <a:gdLst/>
                <a:ahLst/>
                <a:cxnLst/>
                <a:rect r="r" b="b" t="t" l="l"/>
                <a:pathLst>
                  <a:path h="1026021" w="1716256">
                    <a:moveTo>
                      <a:pt x="79431" y="0"/>
                    </a:moveTo>
                    <a:lnTo>
                      <a:pt x="1636824" y="0"/>
                    </a:lnTo>
                    <a:cubicBezTo>
                      <a:pt x="1657891" y="0"/>
                      <a:pt x="1678094" y="8369"/>
                      <a:pt x="1692991" y="23265"/>
                    </a:cubicBezTo>
                    <a:cubicBezTo>
                      <a:pt x="1707887" y="38161"/>
                      <a:pt x="1716256" y="58365"/>
                      <a:pt x="1716256" y="79431"/>
                    </a:cubicBezTo>
                    <a:lnTo>
                      <a:pt x="1716256" y="946590"/>
                    </a:lnTo>
                    <a:cubicBezTo>
                      <a:pt x="1716256" y="967657"/>
                      <a:pt x="1707887" y="987860"/>
                      <a:pt x="1692991" y="1002757"/>
                    </a:cubicBezTo>
                    <a:cubicBezTo>
                      <a:pt x="1678094" y="1017653"/>
                      <a:pt x="1657891" y="1026021"/>
                      <a:pt x="1636824" y="1026021"/>
                    </a:cubicBezTo>
                    <a:lnTo>
                      <a:pt x="79431" y="1026021"/>
                    </a:lnTo>
                    <a:cubicBezTo>
                      <a:pt x="58365" y="1026021"/>
                      <a:pt x="38161" y="1017653"/>
                      <a:pt x="23265" y="1002757"/>
                    </a:cubicBezTo>
                    <a:cubicBezTo>
                      <a:pt x="8369" y="987860"/>
                      <a:pt x="0" y="967657"/>
                      <a:pt x="0" y="946590"/>
                    </a:cubicBezTo>
                    <a:lnTo>
                      <a:pt x="0" y="79431"/>
                    </a:lnTo>
                    <a:cubicBezTo>
                      <a:pt x="0" y="58365"/>
                      <a:pt x="8369" y="38161"/>
                      <a:pt x="23265" y="23265"/>
                    </a:cubicBezTo>
                    <a:cubicBezTo>
                      <a:pt x="38161" y="8369"/>
                      <a:pt x="58365" y="0"/>
                      <a:pt x="79431" y="0"/>
                    </a:cubicBezTo>
                    <a:close/>
                  </a:path>
                </a:pathLst>
              </a:custGeom>
              <a:solidFill>
                <a:srgbClr val="DAE1E6"/>
              </a:solidFill>
              <a:ln w="19050" cap="rnd">
                <a:solidFill>
                  <a:srgbClr val="222223"/>
                </a:solidFill>
                <a:prstDash val="solid"/>
                <a:round/>
              </a:ln>
            </p:spPr>
          </p:sp>
          <p:sp>
            <p:nvSpPr>
              <p:cNvPr name="TextBox 47" id="47"/>
              <p:cNvSpPr txBox="true"/>
              <p:nvPr/>
            </p:nvSpPr>
            <p:spPr>
              <a:xfrm>
                <a:off x="0" y="-38100"/>
                <a:ext cx="1716256" cy="1064122"/>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0" y="0"/>
              <a:ext cx="7478925" cy="1479287"/>
              <a:chOff x="0" y="0"/>
              <a:chExt cx="1646169" cy="325602"/>
            </a:xfrm>
          </p:grpSpPr>
          <p:sp>
            <p:nvSpPr>
              <p:cNvPr name="Freeform 49" id="49"/>
              <p:cNvSpPr/>
              <p:nvPr/>
            </p:nvSpPr>
            <p:spPr>
              <a:xfrm flipH="false" flipV="false" rot="0">
                <a:off x="0" y="0"/>
                <a:ext cx="1646169" cy="325602"/>
              </a:xfrm>
              <a:custGeom>
                <a:avLst/>
                <a:gdLst/>
                <a:ahLst/>
                <a:cxnLst/>
                <a:rect r="r" b="b" t="t" l="l"/>
                <a:pathLst>
                  <a:path h="325602" w="1646169">
                    <a:moveTo>
                      <a:pt x="82813" y="0"/>
                    </a:moveTo>
                    <a:lnTo>
                      <a:pt x="1563356" y="0"/>
                    </a:lnTo>
                    <a:cubicBezTo>
                      <a:pt x="1609092" y="0"/>
                      <a:pt x="1646169" y="37077"/>
                      <a:pt x="1646169" y="82813"/>
                    </a:cubicBezTo>
                    <a:lnTo>
                      <a:pt x="1646169" y="242789"/>
                    </a:lnTo>
                    <a:cubicBezTo>
                      <a:pt x="1646169" y="288526"/>
                      <a:pt x="1609092" y="325602"/>
                      <a:pt x="1563356" y="325602"/>
                    </a:cubicBezTo>
                    <a:lnTo>
                      <a:pt x="82813" y="325602"/>
                    </a:lnTo>
                    <a:cubicBezTo>
                      <a:pt x="37077" y="325602"/>
                      <a:pt x="0" y="288526"/>
                      <a:pt x="0" y="242789"/>
                    </a:cubicBezTo>
                    <a:lnTo>
                      <a:pt x="0" y="82813"/>
                    </a:lnTo>
                    <a:cubicBezTo>
                      <a:pt x="0" y="37077"/>
                      <a:pt x="37077" y="0"/>
                      <a:pt x="82813" y="0"/>
                    </a:cubicBezTo>
                    <a:close/>
                  </a:path>
                </a:pathLst>
              </a:custGeom>
              <a:solidFill>
                <a:srgbClr val="21496F"/>
              </a:solidFill>
              <a:ln w="19050" cap="rnd">
                <a:gradFill>
                  <a:gsLst>
                    <a:gs pos="0">
                      <a:srgbClr val="FFFFFF">
                        <a:alpha val="100000"/>
                      </a:srgbClr>
                    </a:gs>
                    <a:gs pos="25000">
                      <a:srgbClr val="727272">
                        <a:alpha val="100000"/>
                      </a:srgbClr>
                    </a:gs>
                    <a:gs pos="50000">
                      <a:srgbClr val="FFFFFF">
                        <a:alpha val="100000"/>
                      </a:srgbClr>
                    </a:gs>
                    <a:gs pos="75000">
                      <a:srgbClr val="727172">
                        <a:alpha val="100000"/>
                      </a:srgbClr>
                    </a:gs>
                    <a:gs pos="100000">
                      <a:srgbClr val="FFFFFF">
                        <a:alpha val="100000"/>
                      </a:srgbClr>
                    </a:gs>
                  </a:gsLst>
                  <a:lin ang="0"/>
                </a:gradFill>
                <a:prstDash val="solid"/>
                <a:round/>
              </a:ln>
            </p:spPr>
          </p:sp>
          <p:sp>
            <p:nvSpPr>
              <p:cNvPr name="TextBox 50" id="50"/>
              <p:cNvSpPr txBox="true"/>
              <p:nvPr/>
            </p:nvSpPr>
            <p:spPr>
              <a:xfrm>
                <a:off x="0" y="-38100"/>
                <a:ext cx="1646169" cy="363702"/>
              </a:xfrm>
              <a:prstGeom prst="rect">
                <a:avLst/>
              </a:prstGeom>
            </p:spPr>
            <p:txBody>
              <a:bodyPr anchor="ctr" rtlCol="false" tIns="50800" lIns="50800" bIns="50800" rIns="50800"/>
              <a:lstStyle/>
              <a:p>
                <a:pPr algn="ctr">
                  <a:lnSpc>
                    <a:spcPts val="2659"/>
                  </a:lnSpc>
                </a:pPr>
              </a:p>
            </p:txBody>
          </p:sp>
        </p:grpSp>
      </p:grpSp>
      <p:sp>
        <p:nvSpPr>
          <p:cNvPr name="TextBox 51" id="51"/>
          <p:cNvSpPr txBox="true"/>
          <p:nvPr/>
        </p:nvSpPr>
        <p:spPr>
          <a:xfrm rot="0">
            <a:off x="14088821" y="1863191"/>
            <a:ext cx="5173045" cy="703580"/>
          </a:xfrm>
          <a:prstGeom prst="rect">
            <a:avLst/>
          </a:prstGeom>
        </p:spPr>
        <p:txBody>
          <a:bodyPr anchor="t" rtlCol="false" tIns="0" lIns="0" bIns="0" rIns="0">
            <a:spAutoFit/>
          </a:bodyPr>
          <a:lstStyle/>
          <a:p>
            <a:pPr algn="l">
              <a:lnSpc>
                <a:spcPts val="5559"/>
              </a:lnSpc>
            </a:pPr>
            <a:r>
              <a:rPr lang="en-US" sz="3999" spc="-127" b="true">
                <a:solidFill>
                  <a:srgbClr val="FFFFFF"/>
                </a:solidFill>
                <a:latin typeface="Now Bold"/>
                <a:ea typeface="Now Bold"/>
                <a:cs typeface="Now Bold"/>
                <a:sym typeface="Now Bold"/>
              </a:rPr>
              <a:t>Analysis </a:t>
            </a:r>
          </a:p>
        </p:txBody>
      </p:sp>
      <p:sp>
        <p:nvSpPr>
          <p:cNvPr name="TextBox 52" id="52"/>
          <p:cNvSpPr txBox="true"/>
          <p:nvPr/>
        </p:nvSpPr>
        <p:spPr>
          <a:xfrm rot="0">
            <a:off x="12550905" y="2756087"/>
            <a:ext cx="5252945" cy="3265932"/>
          </a:xfrm>
          <a:prstGeom prst="rect">
            <a:avLst/>
          </a:prstGeom>
        </p:spPr>
        <p:txBody>
          <a:bodyPr anchor="t" rtlCol="false" tIns="0" lIns="0" bIns="0" rIns="0">
            <a:spAutoFit/>
          </a:bodyPr>
          <a:lstStyle/>
          <a:p>
            <a:pPr algn="l" marL="518160" indent="-259080" lvl="1">
              <a:lnSpc>
                <a:spcPts val="3264"/>
              </a:lnSpc>
              <a:buFont typeface="Arial"/>
              <a:buChar char="•"/>
            </a:pPr>
            <a:r>
              <a:rPr lang="en-US" sz="2400" spc="-60">
                <a:solidFill>
                  <a:srgbClr val="21496F"/>
                </a:solidFill>
                <a:latin typeface="DM Sans"/>
                <a:ea typeface="DM Sans"/>
                <a:cs typeface="DM Sans"/>
                <a:sym typeface="DM Sans"/>
              </a:rPr>
              <a:t>Spending summaries per category (dictionary + loops)</a:t>
            </a:r>
          </a:p>
          <a:p>
            <a:pPr algn="l" marL="518160" indent="-259080" lvl="1">
              <a:lnSpc>
                <a:spcPts val="3264"/>
              </a:lnSpc>
              <a:buFont typeface="Arial"/>
              <a:buChar char="•"/>
            </a:pPr>
            <a:r>
              <a:rPr lang="en-US" sz="2400" spc="-60">
                <a:solidFill>
                  <a:srgbClr val="21496F"/>
                </a:solidFill>
                <a:latin typeface="DM Sans"/>
                <a:ea typeface="DM Sans"/>
                <a:cs typeface="DM Sans"/>
                <a:sym typeface="DM Sans"/>
              </a:rPr>
              <a:t>Total balance &amp; remaining funds computation</a:t>
            </a:r>
          </a:p>
          <a:p>
            <a:pPr algn="l" marL="518160" indent="-259080" lvl="1">
              <a:lnSpc>
                <a:spcPts val="3264"/>
              </a:lnSpc>
              <a:buFont typeface="Arial"/>
              <a:buChar char="•"/>
            </a:pPr>
            <a:r>
              <a:rPr lang="en-US" sz="2400" spc="-60">
                <a:solidFill>
                  <a:srgbClr val="21496F"/>
                </a:solidFill>
                <a:latin typeface="DM Sans"/>
                <a:ea typeface="DM Sans"/>
                <a:cs typeface="DM Sans"/>
                <a:sym typeface="DM Sans"/>
              </a:rPr>
              <a:t>Highest spending category detection</a:t>
            </a:r>
          </a:p>
          <a:p>
            <a:pPr algn="l" marL="518160" indent="-259080" lvl="1">
              <a:lnSpc>
                <a:spcPts val="3264"/>
              </a:lnSpc>
              <a:buFont typeface="Arial"/>
              <a:buChar char="•"/>
            </a:pPr>
            <a:r>
              <a:rPr lang="en-US" sz="2400" spc="-60">
                <a:solidFill>
                  <a:srgbClr val="21496F"/>
                </a:solidFill>
                <a:latin typeface="DM Sans"/>
                <a:ea typeface="DM Sans"/>
                <a:cs typeface="DM Sans"/>
                <a:sym typeface="DM Sans"/>
              </a:rPr>
              <a:t>Smart financial reports in CLI</a:t>
            </a:r>
          </a:p>
          <a:p>
            <a:pPr algn="l">
              <a:lnSpc>
                <a:spcPts val="3264"/>
              </a:lnSpc>
            </a:pPr>
          </a:p>
        </p:txBody>
      </p:sp>
      <p:sp>
        <p:nvSpPr>
          <p:cNvPr name="TextBox 53" id="53"/>
          <p:cNvSpPr txBox="true"/>
          <p:nvPr/>
        </p:nvSpPr>
        <p:spPr>
          <a:xfrm rot="0">
            <a:off x="12687105" y="6091095"/>
            <a:ext cx="5173045" cy="703580"/>
          </a:xfrm>
          <a:prstGeom prst="rect">
            <a:avLst/>
          </a:prstGeom>
        </p:spPr>
        <p:txBody>
          <a:bodyPr anchor="t" rtlCol="false" tIns="0" lIns="0" bIns="0" rIns="0">
            <a:spAutoFit/>
          </a:bodyPr>
          <a:lstStyle/>
          <a:p>
            <a:pPr algn="l">
              <a:lnSpc>
                <a:spcPts val="5559"/>
              </a:lnSpc>
            </a:pPr>
            <a:r>
              <a:rPr lang="en-US" sz="3999" spc="-127" b="true">
                <a:solidFill>
                  <a:srgbClr val="FFFFFF"/>
                </a:solidFill>
                <a:latin typeface="Now Bold"/>
                <a:ea typeface="Now Bold"/>
                <a:cs typeface="Now Bold"/>
                <a:sym typeface="Now Bold"/>
              </a:rPr>
              <a:t>Additional Features</a:t>
            </a:r>
          </a:p>
        </p:txBody>
      </p:sp>
      <p:sp>
        <p:nvSpPr>
          <p:cNvPr name="TextBox 54" id="54"/>
          <p:cNvSpPr txBox="true"/>
          <p:nvPr/>
        </p:nvSpPr>
        <p:spPr>
          <a:xfrm rot="0">
            <a:off x="12372780" y="7006821"/>
            <a:ext cx="5915220" cy="2891028"/>
          </a:xfrm>
          <a:prstGeom prst="rect">
            <a:avLst/>
          </a:prstGeom>
        </p:spPr>
        <p:txBody>
          <a:bodyPr anchor="t" rtlCol="false" tIns="0" lIns="0" bIns="0" rIns="0">
            <a:spAutoFit/>
          </a:bodyPr>
          <a:lstStyle/>
          <a:p>
            <a:pPr algn="l" marL="453390" indent="-226695" lvl="1">
              <a:lnSpc>
                <a:spcPts val="2856"/>
              </a:lnSpc>
              <a:buFont typeface="Arial"/>
              <a:buChar char="•"/>
            </a:pPr>
            <a:r>
              <a:rPr lang="en-US" sz="2100" spc="-52">
                <a:solidFill>
                  <a:srgbClr val="21496F"/>
                </a:solidFill>
                <a:latin typeface="DM Sans"/>
                <a:ea typeface="DM Sans"/>
                <a:cs typeface="DM Sans"/>
                <a:sym typeface="DM Sans"/>
              </a:rPr>
              <a:t>Savings category (separate allocation)</a:t>
            </a:r>
          </a:p>
          <a:p>
            <a:pPr algn="l" marL="453390" indent="-226695" lvl="1">
              <a:lnSpc>
                <a:spcPts val="2856"/>
              </a:lnSpc>
              <a:buFont typeface="Arial"/>
              <a:buChar char="•"/>
            </a:pPr>
            <a:r>
              <a:rPr lang="en-US" sz="2100" spc="-52">
                <a:solidFill>
                  <a:srgbClr val="21496F"/>
                </a:solidFill>
                <a:latin typeface="DM Sans"/>
                <a:ea typeface="DM Sans"/>
                <a:cs typeface="DM Sans"/>
                <a:sym typeface="DM Sans"/>
              </a:rPr>
              <a:t>Customizable categories (add/remove)</a:t>
            </a:r>
          </a:p>
          <a:p>
            <a:pPr algn="l" marL="453390" indent="-226695" lvl="1">
              <a:lnSpc>
                <a:spcPts val="2856"/>
              </a:lnSpc>
              <a:buFont typeface="Arial"/>
              <a:buChar char="•"/>
            </a:pPr>
            <a:r>
              <a:rPr lang="en-US" sz="2100" spc="-52">
                <a:solidFill>
                  <a:srgbClr val="21496F"/>
                </a:solidFill>
                <a:latin typeface="DM Sans"/>
                <a:ea typeface="DM Sans"/>
                <a:cs typeface="DM Sans"/>
                <a:sym typeface="DM Sans"/>
              </a:rPr>
              <a:t>Low balance alert system (threshold warning)</a:t>
            </a:r>
          </a:p>
          <a:p>
            <a:pPr algn="l" marL="453390" indent="-226695" lvl="1">
              <a:lnSpc>
                <a:spcPts val="2856"/>
              </a:lnSpc>
              <a:buFont typeface="Arial"/>
              <a:buChar char="•"/>
            </a:pPr>
            <a:r>
              <a:rPr lang="en-US" sz="2100" spc="-52">
                <a:solidFill>
                  <a:srgbClr val="21496F"/>
                </a:solidFill>
                <a:latin typeface="DM Sans"/>
                <a:ea typeface="DM Sans"/>
                <a:cs typeface="DM Sans"/>
                <a:sym typeface="DM Sans"/>
              </a:rPr>
              <a:t>Weekly reset function (reinitializes budget cycle)</a:t>
            </a:r>
          </a:p>
          <a:p>
            <a:pPr algn="l" marL="453390" indent="-226695" lvl="1">
              <a:lnSpc>
                <a:spcPts val="2856"/>
              </a:lnSpc>
              <a:buFont typeface="Arial"/>
              <a:buChar char="•"/>
            </a:pPr>
            <a:r>
              <a:rPr lang="en-US" sz="2100" spc="-52">
                <a:solidFill>
                  <a:srgbClr val="21496F"/>
                </a:solidFill>
                <a:latin typeface="DM Sans"/>
                <a:ea typeface="DM Sans"/>
                <a:cs typeface="DM Sans"/>
                <a:sym typeface="DM Sans"/>
              </a:rPr>
              <a:t>Menu-driven dashboard (loop-based navigation)</a:t>
            </a:r>
          </a:p>
          <a:p>
            <a:pPr algn="l">
              <a:lnSpc>
                <a:spcPts val="285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496F">
                <a:alpha val="100000"/>
              </a:srgbClr>
            </a:gs>
            <a:gs pos="50000">
              <a:srgbClr val="3D678B">
                <a:alpha val="100000"/>
              </a:srgbClr>
            </a:gs>
            <a:gs pos="100000">
              <a:srgbClr val="21496F">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58587" y="-519927"/>
            <a:ext cx="11326854" cy="11326854"/>
          </a:xfrm>
          <a:custGeom>
            <a:avLst/>
            <a:gdLst/>
            <a:ahLst/>
            <a:cxnLst/>
            <a:rect r="r" b="b" t="t" l="l"/>
            <a:pathLst>
              <a:path h="11326854" w="11326854">
                <a:moveTo>
                  <a:pt x="0" y="0"/>
                </a:moveTo>
                <a:lnTo>
                  <a:pt x="11326854" y="0"/>
                </a:lnTo>
                <a:lnTo>
                  <a:pt x="11326854" y="11326854"/>
                </a:lnTo>
                <a:lnTo>
                  <a:pt x="0" y="11326854"/>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6397441" y="-519927"/>
            <a:ext cx="11326854" cy="11326854"/>
          </a:xfrm>
          <a:custGeom>
            <a:avLst/>
            <a:gdLst/>
            <a:ahLst/>
            <a:cxnLst/>
            <a:rect r="r" b="b" t="t" l="l"/>
            <a:pathLst>
              <a:path h="11326854" w="11326854">
                <a:moveTo>
                  <a:pt x="11326854" y="11326854"/>
                </a:moveTo>
                <a:lnTo>
                  <a:pt x="0" y="11326854"/>
                </a:lnTo>
                <a:lnTo>
                  <a:pt x="0" y="0"/>
                </a:lnTo>
                <a:lnTo>
                  <a:pt x="11326854" y="0"/>
                </a:lnTo>
                <a:lnTo>
                  <a:pt x="11326854" y="11326854"/>
                </a:lnTo>
                <a:close/>
              </a:path>
            </a:pathLst>
          </a:custGeom>
          <a:blipFill>
            <a:blip r:embed="rId2">
              <a:alphaModFix amt="40000"/>
            </a:blip>
            <a:stretch>
              <a:fillRect l="0" t="0" r="0" b="0"/>
            </a:stretch>
          </a:blipFill>
        </p:spPr>
      </p:sp>
      <p:sp>
        <p:nvSpPr>
          <p:cNvPr name="TextBox 4" id="4"/>
          <p:cNvSpPr txBox="true"/>
          <p:nvPr/>
        </p:nvSpPr>
        <p:spPr>
          <a:xfrm rot="0">
            <a:off x="1028700" y="2796101"/>
            <a:ext cx="16230600" cy="2470088"/>
          </a:xfrm>
          <a:prstGeom prst="rect">
            <a:avLst/>
          </a:prstGeom>
        </p:spPr>
        <p:txBody>
          <a:bodyPr anchor="t" rtlCol="false" tIns="0" lIns="0" bIns="0" rIns="0">
            <a:spAutoFit/>
          </a:bodyPr>
          <a:lstStyle/>
          <a:p>
            <a:pPr algn="ctr" marL="0" indent="0" lvl="0">
              <a:lnSpc>
                <a:spcPts val="16181"/>
              </a:lnSpc>
            </a:pPr>
            <a:r>
              <a:rPr lang="en-US" b="true" sz="17979" spc="-1078">
                <a:solidFill>
                  <a:srgbClr val="FFFFFF"/>
                </a:solidFill>
                <a:latin typeface="Helvetica World Bold"/>
                <a:ea typeface="Helvetica World Bold"/>
                <a:cs typeface="Helvetica World Bold"/>
                <a:sym typeface="Helvetica World Bold"/>
              </a:rPr>
              <a:t>THANK YOU</a:t>
            </a:r>
          </a:p>
        </p:txBody>
      </p:sp>
      <p:sp>
        <p:nvSpPr>
          <p:cNvPr name="TextBox 5" id="5"/>
          <p:cNvSpPr txBox="true"/>
          <p:nvPr/>
        </p:nvSpPr>
        <p:spPr>
          <a:xfrm rot="0">
            <a:off x="2799468" y="5050073"/>
            <a:ext cx="12689064" cy="1336025"/>
          </a:xfrm>
          <a:prstGeom prst="rect">
            <a:avLst/>
          </a:prstGeom>
        </p:spPr>
        <p:txBody>
          <a:bodyPr anchor="t" rtlCol="false" tIns="0" lIns="0" bIns="0" rIns="0">
            <a:spAutoFit/>
          </a:bodyPr>
          <a:lstStyle/>
          <a:p>
            <a:pPr algn="ctr" marL="0" indent="0" lvl="0">
              <a:lnSpc>
                <a:spcPts val="9734"/>
              </a:lnSpc>
            </a:pPr>
            <a:r>
              <a:rPr lang="en-US" sz="10816" spc="-648">
                <a:solidFill>
                  <a:srgbClr val="FFFFFF"/>
                </a:solidFill>
                <a:latin typeface="Helvetica World"/>
                <a:ea typeface="Helvetica World"/>
                <a:cs typeface="Helvetica World"/>
                <a:sym typeface="Helvetica World"/>
              </a:rPr>
              <a:t>So Much</a:t>
            </a:r>
          </a:p>
        </p:txBody>
      </p:sp>
      <p:sp>
        <p:nvSpPr>
          <p:cNvPr name="AutoShape 6" id="6"/>
          <p:cNvSpPr/>
          <p:nvPr/>
        </p:nvSpPr>
        <p:spPr>
          <a:xfrm>
            <a:off x="2799468" y="5958858"/>
            <a:ext cx="3667374" cy="0"/>
          </a:xfrm>
          <a:prstGeom prst="line">
            <a:avLst/>
          </a:prstGeom>
          <a:ln cap="rnd" w="76200">
            <a:solidFill>
              <a:srgbClr val="FFFFFF"/>
            </a:solidFill>
            <a:prstDash val="solid"/>
            <a:headEnd type="none" len="sm" w="sm"/>
            <a:tailEnd type="none" len="sm" w="sm"/>
          </a:ln>
        </p:spPr>
      </p:sp>
      <p:sp>
        <p:nvSpPr>
          <p:cNvPr name="AutoShape 7" id="7"/>
          <p:cNvSpPr/>
          <p:nvPr/>
        </p:nvSpPr>
        <p:spPr>
          <a:xfrm>
            <a:off x="1028700" y="1373162"/>
            <a:ext cx="16230600" cy="0"/>
          </a:xfrm>
          <a:prstGeom prst="line">
            <a:avLst/>
          </a:prstGeom>
          <a:ln cap="rnd" w="19050">
            <a:solidFill>
              <a:srgbClr val="FFFFFF"/>
            </a:solidFill>
            <a:prstDash val="solid"/>
            <a:headEnd type="none" len="sm" w="sm"/>
            <a:tailEnd type="none" len="sm" w="sm"/>
          </a:ln>
        </p:spPr>
      </p:sp>
      <p:sp>
        <p:nvSpPr>
          <p:cNvPr name="AutoShape 8" id="8"/>
          <p:cNvSpPr/>
          <p:nvPr/>
        </p:nvSpPr>
        <p:spPr>
          <a:xfrm flipV="true">
            <a:off x="11944663" y="5996958"/>
            <a:ext cx="3704309" cy="0"/>
          </a:xfrm>
          <a:prstGeom prst="line">
            <a:avLst/>
          </a:prstGeom>
          <a:ln cap="rnd" w="76200">
            <a:solidFill>
              <a:srgbClr val="FFFFFF"/>
            </a:solidFill>
            <a:prstDash val="solid"/>
            <a:headEnd type="none" len="sm" w="sm"/>
            <a:tailEnd type="none" len="sm" w="sm"/>
          </a:ln>
        </p:spPr>
      </p:sp>
      <p:sp>
        <p:nvSpPr>
          <p:cNvPr name="Freeform 9" id="9"/>
          <p:cNvSpPr/>
          <p:nvPr/>
        </p:nvSpPr>
        <p:spPr>
          <a:xfrm flipH="false" flipV="false" rot="0">
            <a:off x="1028700" y="710565"/>
            <a:ext cx="477456" cy="330747"/>
          </a:xfrm>
          <a:custGeom>
            <a:avLst/>
            <a:gdLst/>
            <a:ahLst/>
            <a:cxnLst/>
            <a:rect r="r" b="b" t="t" l="l"/>
            <a:pathLst>
              <a:path h="330747" w="477456">
                <a:moveTo>
                  <a:pt x="0" y="0"/>
                </a:moveTo>
                <a:lnTo>
                  <a:pt x="477456" y="0"/>
                </a:lnTo>
                <a:lnTo>
                  <a:pt x="477456" y="330747"/>
                </a:lnTo>
                <a:lnTo>
                  <a:pt x="0" y="330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DAHHZIdPCM0</dc:identifier>
  <dcterms:modified xsi:type="dcterms:W3CDTF">2011-08-01T06:04:30Z</dcterms:modified>
  <cp:revision>1</cp:revision>
  <dc:title>Blue and White Modern Minimalist Thesis Defense Presentation</dc:title>
</cp:coreProperties>
</file>